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1:15</a:t>
            </a:r>
          </a:p>
          <a:p/>
          <a:p>
            <a:r>
              <a:t>Talk track:</a:t>
            </a:r>
          </a:p>
          <a:p>
            <a:r>
              <a:t>At Lumen's scale, a two-to-two-and-a-half percent leakage rate represents roughly $250 million to $312 million a year. That is not one broken billing rule — it is value escaping between systems that are each locally correct: sales, contracts, provisioning, billing, finance, and collections. We built a working revenue-assurance solution for Lakelink Fiber, a fictional carrier with realistic telecom data and operating patterns. No Lumen customer data is used.</a:t>
            </a:r>
          </a:p>
          <a:p/>
          <a:p>
            <a:r>
              <a:t>Demo cues:</a:t>
            </a:r>
          </a:p>
          <a:p>
            <a:r>
              <a:t>- Dana (executive): value framing throughout.</a:t>
            </a:r>
          </a:p>
          <a:p>
            <a:r>
              <a:t>- Priya (technical): architecture, governance, control points behind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a:t>
            </a:r>
          </a:p>
          <a:p/>
          <a:p>
            <a:r>
              <a:t>Talk track:</a:t>
            </a:r>
          </a:p>
          <a:p>
            <a:r>
              <a:t>Leakage persists because the definition of revenue changes by function. Sales sees bookings, operations sees provisioned service, billing sees invoices, and finance sees recognized revenue. Each view can be correct while the handoff between them is wrong. Our design moves those reconciliations into governed controls that run against the same enterprise data foundation.</a:t>
            </a:r>
          </a:p>
          <a:p/>
          <a:p>
            <a:r>
              <a:t>Translation:</a:t>
            </a:r>
          </a:p>
          <a:p>
            <a:r>
              <a:t>Tell-show-tell transition: I have framed the business problem. Now I will show the integrated path from source records to a prioritized recovery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a:t>
            </a:r>
          </a:p>
          <a:p/>
          <a:p>
            <a:r>
              <a:t>Talk track:</a:t>
            </a:r>
          </a:p>
          <a:p>
            <a:r>
              <a:t>We did not create another isolated revenue-assurance database. We built on the existing TM Forum SID estate and added deterministic snapshots for the systems where reconciliation gaps originate. Seven transparent SQL controls create a unified leakage register in Unity Catalog.</a:t>
            </a:r>
          </a:p>
          <a:p/>
          <a:p>
            <a:r>
              <a:t>Translation:</a:t>
            </a:r>
          </a:p>
          <a:p>
            <a:r>
              <a:t>Case activity is transactional, so assignments, notes, and lifecycle changes live in Lakebase rather than being forced into an analytical table. That is a deliberate trade-off.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0:45</a:t>
            </a:r>
          </a:p>
          <a:p/>
          <a:p>
            <a:r>
              <a:t>Talk track:</a:t>
            </a:r>
          </a:p>
          <a:p>
            <a:r>
              <a:t>The demo has three tests. First, can an executive quantify the exposure? Second, can an architect or auditor prove each exception? Third, can an analyst move from detection to accountable recovery?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3:00</a:t>
            </a:r>
          </a:p>
          <a:p/>
          <a:p>
            <a:r>
              <a:t>Talk track:</a:t>
            </a:r>
          </a:p>
          <a:p>
            <a:r>
              <a:t>We have moved from an unbounded audit question to a governed register that finance can decompose by cause and customer. The value is not the dashboard itself — it is deciding where to put the next hour of recovery effort.</a:t>
            </a:r>
          </a:p>
          <a:p/>
          <a:p>
            <a:r>
              <a:t>Demo cues:</a:t>
            </a:r>
          </a:p>
          <a:p>
            <a:r>
              <a:t>- Open “Lakelink Fiber — Revenue Assurance Command Center” dashboard.</a:t>
            </a:r>
          </a:p>
          <a:p>
            <a:r>
              <a:t>- Executive Summary tiles → Leakage by Check Type → Customer Risk Scorecard.</a:t>
            </a:r>
          </a:p>
          <a:p/>
          <a:p>
            <a:r>
              <a:t>Translation:</a:t>
            </a:r>
          </a:p>
          <a:p>
            <a:r>
              <a:t>Faster prioritization, a shared finance/sales/billing/collections definition, and exposure that can be tracked run over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a:t>
            </a:r>
          </a:p>
          <a:p/>
          <a:p>
            <a:r>
              <a:t>Talk track:</a:t>
            </a:r>
          </a:p>
          <a:p>
            <a:r>
              <a:t>One definition now serves two altitudes. The dashboard funds the decision; this workspace turns the decision into daily work.</a:t>
            </a:r>
          </a:p>
          <a:p/>
          <a:p>
            <a:r>
              <a:t>Demo cues:</a:t>
            </a:r>
          </a:p>
          <a:p>
            <a:r>
              <a:t>- Connect KPI totals to the executive dashboard.</a:t>
            </a:r>
          </a:p>
          <a:p>
            <a:r>
              <a:t>- Show root-cause concentration bar chart.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2:00</a:t>
            </a:r>
          </a:p>
          <a:p/>
          <a:p>
            <a:r>
              <a:t>Talk track:</a:t>
            </a:r>
          </a:p>
          <a:p>
            <a:r>
              <a:t>We have reduced a portfolio-level number to the next best recovery action. Now the architect's question becomes: is this evidence, or merely an assertion?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2:30</a:t>
            </a:r>
          </a:p>
          <a:p/>
          <a:p>
            <a:r>
              <a:t>Talk track:</a:t>
            </a:r>
          </a:p>
          <a:p>
            <a:r>
              <a:t>Every exception carries enough provenance to move from 'the model says so' to 'this source record violated this named control.' That shortens dispute resolution and builds trust with finance and audit.</a:t>
            </a:r>
          </a:p>
          <a:p/>
          <a:p>
            <a:r>
              <a:t>Translation:</a:t>
            </a:r>
          </a:p>
          <a:p>
            <a:r>
              <a:t>The gold register retains the check type, source reference, detection method, severity, and amount at risk. Unity Catalog provides the governed analytical boundary and lineage path back through the reconciliation layer.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2:30</a:t>
            </a:r>
          </a:p>
          <a:p/>
          <a:p>
            <a:r>
              <a:t>Talk track:</a:t>
            </a:r>
          </a:p>
          <a:p>
            <a:r>
              <a:t>The control now has an owner, a decision trail, and a recovery state. That is the bridge from amount at risk to recovered and prevented revenue.</a:t>
            </a:r>
          </a:p>
          <a:p/>
          <a:p>
            <a:r>
              <a:t>Translation:</a:t>
            </a:r>
          </a:p>
          <a:p>
            <a:r>
              <a:t>Executive: this gives leadership accountability. Technical: Lakebase provides transactional updates and relational constraints for case state, while the analytical evidence remains governed in Unity Catalog.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3:00</a:t>
            </a:r>
          </a:p>
          <a:p/>
          <a:p>
            <a:r>
              <a:t>Talk track:</a:t>
            </a:r>
          </a:p>
          <a:p>
            <a:r>
              <a:t>The path is explicit, governed, and deployable as one repository. We reuse the customer's existing model, isolate writes, and add controls incrementally.</a:t>
            </a:r>
          </a:p>
          <a:p/>
          <a:p>
            <a:r>
              <a:t>Demo cues:</a:t>
            </a:r>
          </a:p>
          <a:p>
            <a:r>
              <a:t>- Open Architecture tab in the console; walk the seven-step tour at executive speed.</a:t>
            </a:r>
          </a:p>
          <a:p>
            <a:r>
              <a:t>- Open one live workspace or catalog link if stable.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2:00</a:t>
            </a:r>
          </a:p>
          <a:p/>
          <a:p>
            <a:r>
              <a:t>Talk track:</a:t>
            </a:r>
          </a:p>
          <a:p>
            <a:r>
              <a:t>AI is not replacing the control framework. It is extending the kinds of evidence the framework can evaluate. The output still lands in named, governed, reviewable surfaces.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a:t>
            </a:r>
          </a:p>
          <a:p/>
          <a:p>
            <a:r>
              <a:t>Talk track:</a:t>
            </a:r>
          </a:p>
          <a:p>
            <a:r>
              <a:t>These are intentional choices, not missing architecture. We optimized the first release for explainability, repeatability, and time to value. In production, the highest-priority extensions are live ingestion where latency demands it, standardized identity mapping, and Lakebase-to-Unity-Catalog synchronization.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a:t>
            </a:r>
          </a:p>
          <a:p/>
          <a:p>
            <a:r>
              <a:t>Talk track:</a:t>
            </a:r>
          </a:p>
          <a:p>
            <a:r>
              <a:t>The ask is deliberately small. Give us the two reconciliations you understand least and read-only access to the relevant records. We will align definitions, run the controls, and put a defensible number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1:45</a:t>
            </a:r>
          </a:p>
          <a:p/>
          <a:p>
            <a:r>
              <a:t>Talk track:</a:t>
            </a:r>
          </a:p>
          <a:p>
            <a:r>
              <a:t>Let me leave you with the business progression. Leakage stops being an opinion and becomes a register. Nobody recovers all of the gross leakage — a defensible planning range is $125 million to $220 million of recovered and prevented revenue over a phased 12-to-24-month program, subject to validation on Lumen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Talk track:</a:t>
            </a:r>
          </a:p>
          <a:p>
            <a:r>
              <a:t>We used AI as a teammate for breadth, speed, and independent challenge. We did not use it as the final authority. The implementer and reviewer were separated, acceptance criteria were explicit, and deterministic gates remained part of the process.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914400"/>
            <a:ext cx="12191695" cy="365760"/>
          </a:xfrm>
          <a:prstGeom prst="rect">
            <a:avLst/>
          </a:prstGeom>
          <a:noFill/>
        </p:spPr>
        <p:txBody>
          <a:bodyPr wrap="square">
            <a:spAutoFit/>
          </a:bodyPr>
          <a:lstStyle/>
          <a:p>
            <a:pPr algn="ctr">
              <a:lnSpc>
                <a:spcPct val="115000"/>
              </a:lnSpc>
            </a:pPr>
            <a:r>
              <a:rPr sz="1300" b="1" i="0">
                <a:solidFill>
                  <a:srgbClr val="0A6E6E"/>
                </a:solidFill>
                <a:latin typeface="Calibri"/>
              </a:rPr>
              <a:t>CUSTOMER ROLEPLAY · LUMEN TECHNOLOGIES</a:t>
            </a:r>
          </a:p>
        </p:txBody>
      </p:sp>
      <p:sp>
        <p:nvSpPr>
          <p:cNvPr id="3" name="TextBox 2"/>
          <p:cNvSpPr txBox="1"/>
          <p:nvPr/>
        </p:nvSpPr>
        <p:spPr>
          <a:xfrm>
            <a:off x="0" y="1417320"/>
            <a:ext cx="12191695" cy="822960"/>
          </a:xfrm>
          <a:prstGeom prst="rect">
            <a:avLst/>
          </a:prstGeom>
          <a:noFill/>
        </p:spPr>
        <p:txBody>
          <a:bodyPr wrap="square">
            <a:spAutoFit/>
          </a:bodyPr>
          <a:lstStyle/>
          <a:p>
            <a:pPr algn="ctr">
              <a:lnSpc>
                <a:spcPct val="115000"/>
              </a:lnSpc>
            </a:pPr>
            <a:r>
              <a:rPr sz="3600" b="1" i="0">
                <a:solidFill>
                  <a:srgbClr val="1C2321"/>
                </a:solidFill>
                <a:latin typeface="Calibri"/>
              </a:rPr>
              <a:t>Lakelink Fiber Revenue Assurance</a:t>
            </a:r>
          </a:p>
        </p:txBody>
      </p:sp>
      <p:sp>
        <p:nvSpPr>
          <p:cNvPr id="4" name="TextBox 3"/>
          <p:cNvSpPr txBox="1"/>
          <p:nvPr/>
        </p:nvSpPr>
        <p:spPr>
          <a:xfrm>
            <a:off x="0" y="2148840"/>
            <a:ext cx="12191695" cy="457200"/>
          </a:xfrm>
          <a:prstGeom prst="rect">
            <a:avLst/>
          </a:prstGeom>
          <a:noFill/>
        </p:spPr>
        <p:txBody>
          <a:bodyPr wrap="square">
            <a:spAutoFit/>
          </a:bodyPr>
          <a:lstStyle/>
          <a:p>
            <a:pPr algn="ctr">
              <a:lnSpc>
                <a:spcPct val="115000"/>
              </a:lnSpc>
            </a:pPr>
            <a:r>
              <a:rPr sz="1600" b="0" i="0">
                <a:solidFill>
                  <a:srgbClr val="5C6663"/>
                </a:solidFill>
                <a:latin typeface="Calibri"/>
              </a:rPr>
              <a:t>From fragmented audits to governed detection and recovery — built on Databricks</a:t>
            </a:r>
          </a:p>
        </p:txBody>
      </p:sp>
      <p:sp>
        <p:nvSpPr>
          <p:cNvPr id="5" name="TextBox 4"/>
          <p:cNvSpPr txBox="1"/>
          <p:nvPr/>
        </p:nvSpPr>
        <p:spPr>
          <a:xfrm>
            <a:off x="0" y="2880360"/>
            <a:ext cx="12191695" cy="914400"/>
          </a:xfrm>
          <a:prstGeom prst="rect">
            <a:avLst/>
          </a:prstGeom>
          <a:noFill/>
        </p:spPr>
        <p:txBody>
          <a:bodyPr wrap="square">
            <a:spAutoFit/>
          </a:bodyPr>
          <a:lstStyle/>
          <a:p>
            <a:pPr algn="ctr">
              <a:lnSpc>
                <a:spcPct val="115000"/>
              </a:lnSpc>
            </a:pPr>
            <a:r>
              <a:rPr sz="5400" b="1" i="0">
                <a:solidFill>
                  <a:srgbClr val="9C2B2B"/>
                </a:solidFill>
                <a:latin typeface="Consolas"/>
              </a:rPr>
              <a:t>$250M–$312.5M</a:t>
            </a:r>
          </a:p>
        </p:txBody>
      </p:sp>
      <p:sp>
        <p:nvSpPr>
          <p:cNvPr id="6" name="Rounded Rectangle 5"/>
          <p:cNvSpPr/>
          <p:nvPr/>
        </p:nvSpPr>
        <p:spPr>
          <a:xfrm>
            <a:off x="4495647" y="3794760"/>
            <a:ext cx="3200400" cy="256032"/>
          </a:xfrm>
          <a:prstGeom prst="roundRect">
            <a:avLst>
              <a:gd name="adj" fmla="val 50000"/>
            </a:avLst>
          </a:prstGeom>
          <a:solidFill>
            <a:srgbClr val="ECDFC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a:lstStyle/>
          <a:p>
            <a:pPr algn="ctr"/>
            <a:r>
              <a:rPr sz="1100" b="1">
                <a:solidFill>
                  <a:srgbClr val="A97C0B"/>
                </a:solidFill>
              </a:rPr>
              <a:t>ILLUSTRATIVE — BENCHMARK ESTIMATE AT LUMEN SCALE, NOT MEASURED LUMEN LEAKAGE</a:t>
            </a:r>
          </a:p>
        </p:txBody>
      </p:sp>
      <p:sp>
        <p:nvSpPr>
          <p:cNvPr id="7" name="TextBox 6"/>
          <p:cNvSpPr txBox="1"/>
          <p:nvPr/>
        </p:nvSpPr>
        <p:spPr>
          <a:xfrm>
            <a:off x="914400" y="4434840"/>
            <a:ext cx="10332720" cy="548640"/>
          </a:xfrm>
          <a:prstGeom prst="rect">
            <a:avLst/>
          </a:prstGeom>
          <a:noFill/>
        </p:spPr>
        <p:txBody>
          <a:bodyPr wrap="square">
            <a:spAutoFit/>
          </a:bodyPr>
          <a:lstStyle/>
          <a:p>
            <a:pPr algn="ctr">
              <a:lnSpc>
                <a:spcPct val="115000"/>
              </a:lnSpc>
            </a:pPr>
            <a:r>
              <a:rPr sz="1200" b="0" i="0">
                <a:solidFill>
                  <a:srgbClr val="5C6663"/>
                </a:solidFill>
                <a:latin typeface="Calibri"/>
              </a:rPr>
              <a:t>Prospect: Lumen Technologies — no Lumen data used        Demo operator: Lakelink Fiber (fictional)        Format: 20–30 min scored roleplay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BUSINESS PROBLEM · SETUP 1 OF 7</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The systems are working. The handoffs are not.</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Leakage persists because the definition of “revenue” changes by function.</a:t>
            </a:r>
          </a:p>
        </p:txBody>
      </p:sp>
      <p:sp>
        <p:nvSpPr>
          <p:cNvPr id="6" name="Rounded Rectangle 5"/>
          <p:cNvSpPr/>
          <p:nvPr/>
        </p:nvSpPr>
        <p:spPr>
          <a:xfrm>
            <a:off x="685800" y="2011680"/>
            <a:ext cx="5212080" cy="42062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Where the handoff breaks</a:t>
            </a:r>
          </a:p>
          <a:p>
            <a:pPr>
              <a:spcBef>
                <a:spcPts val="300"/>
              </a:spcBef>
            </a:pPr>
            <a:r>
              <a:rPr sz="1300">
                <a:solidFill>
                  <a:srgbClr val="5C6663"/>
                </a:solidFill>
              </a:rPr>
              <a:t>1. Contract price differs from billed price</a:t>
            </a:r>
          </a:p>
          <a:p>
            <a:pPr>
              <a:spcBef>
                <a:spcPts val="300"/>
              </a:spcBef>
            </a:pPr>
            <a:r>
              <a:rPr sz="1300">
                <a:solidFill>
                  <a:srgbClr val="5C6663"/>
                </a:solidFill>
              </a:rPr>
              <a:t>2. Discounts bypass authorization</a:t>
            </a:r>
          </a:p>
          <a:p>
            <a:pPr>
              <a:spcBef>
                <a:spcPts val="300"/>
              </a:spcBef>
            </a:pPr>
            <a:r>
              <a:rPr sz="1300">
                <a:solidFill>
                  <a:srgbClr val="5C6663"/>
                </a:solidFill>
              </a:rPr>
              <a:t>3. Revenue recognition timing diverges from policy</a:t>
            </a:r>
          </a:p>
          <a:p>
            <a:pPr>
              <a:spcBef>
                <a:spcPts val="300"/>
              </a:spcBef>
            </a:pPr>
            <a:r>
              <a:rPr sz="1300">
                <a:solidFill>
                  <a:srgbClr val="5C6663"/>
                </a:solidFill>
              </a:rPr>
              <a:t>4. Collections risk is discovered too late</a:t>
            </a:r>
          </a:p>
          <a:p>
            <a:pPr>
              <a:spcBef>
                <a:spcPts val="300"/>
              </a:spcBef>
            </a:pPr>
            <a:r>
              <a:rPr sz="1300">
                <a:solidFill>
                  <a:srgbClr val="5C6663"/>
                </a:solidFill>
              </a:rPr>
              <a:t>5. Documents and structured records disagree</a:t>
            </a:r>
          </a:p>
          <a:p>
            <a:pPr>
              <a:spcBef>
                <a:spcPts val="300"/>
              </a:spcBef>
            </a:pPr>
            <a:r>
              <a:rPr sz="1300">
                <a:solidFill>
                  <a:srgbClr val="5C6663"/>
                </a:solidFill>
              </a:rPr>
              <a:t>6. Identity mappings break across CRM, billing, service, and finance</a:t>
            </a:r>
          </a:p>
        </p:txBody>
      </p:sp>
      <p:sp>
        <p:nvSpPr>
          <p:cNvPr id="7" name="Rounded Rectangle 6"/>
          <p:cNvSpPr/>
          <p:nvPr/>
        </p:nvSpPr>
        <p:spPr>
          <a:xfrm>
            <a:off x="6080760" y="2011680"/>
            <a:ext cx="5394960" cy="18288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Today</a:t>
            </a:r>
          </a:p>
          <a:p>
            <a:pPr>
              <a:spcBef>
                <a:spcPts val="300"/>
              </a:spcBef>
            </a:pPr>
            <a:r>
              <a:rPr sz="1300">
                <a:solidFill>
                  <a:srgbClr val="5C6663"/>
                </a:solidFill>
              </a:rPr>
              <a:t>Quarterly spreadsheet reconciliation — by the time finance finds the mismatch, the claim may be aged, disputed, or unrecoverable</a:t>
            </a:r>
          </a:p>
        </p:txBody>
      </p:sp>
      <p:sp>
        <p:nvSpPr>
          <p:cNvPr id="8" name="Rounded Rectangle 7"/>
          <p:cNvSpPr/>
          <p:nvPr/>
        </p:nvSpPr>
        <p:spPr>
          <a:xfrm>
            <a:off x="6080760" y="4023360"/>
            <a:ext cx="5394960" cy="18288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Target</a:t>
            </a:r>
          </a:p>
          <a:p>
            <a:pPr>
              <a:spcBef>
                <a:spcPts val="300"/>
              </a:spcBef>
            </a:pPr>
            <a:r>
              <a:rPr sz="1300">
                <a:solidFill>
                  <a:srgbClr val="5C6663"/>
                </a:solidFill>
              </a:rPr>
              <a:t>Governed, repeatable controls on every pipeline run, against the same enterprise data foundation</a:t>
            </a:r>
          </a:p>
        </p:txBody>
      </p:sp>
      <p:sp>
        <p:nvSpPr>
          <p:cNvPr id="9" name="TextBox 8"/>
          <p:cNvSpPr txBox="1"/>
          <p:nvPr/>
        </p:nvSpPr>
        <p:spPr>
          <a:xfrm>
            <a:off x="6080760" y="5989319"/>
            <a:ext cx="5394960" cy="274320"/>
          </a:xfrm>
          <a:prstGeom prst="rect">
            <a:avLst/>
          </a:prstGeom>
          <a:noFill/>
        </p:spPr>
        <p:txBody>
          <a:bodyPr wrap="square">
            <a:spAutoFit/>
          </a:bodyPr>
          <a:lstStyle/>
          <a:p>
            <a:pPr algn="l">
              <a:lnSpc>
                <a:spcPct val="115000"/>
              </a:lnSpc>
            </a:pPr>
            <a:r>
              <a:rPr sz="1100" b="0" i="0">
                <a:solidFill>
                  <a:srgbClr val="9AA19E"/>
                </a:solidFill>
                <a:latin typeface="Calibri"/>
              </a:rPr>
              <a:t>Salesforce · Oracle ERP · Refinitiv · Ironclad · MDM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ARCHITECTURE · SETUP 2 OF 7</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One governed path from signal to recovery</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We did not create another isolated revenue-assurance database.</a:t>
            </a:r>
          </a:p>
        </p:txBody>
      </p:sp>
      <p:sp>
        <p:nvSpPr>
          <p:cNvPr id="6" name="Rounded Rectangle 5"/>
          <p:cNvSpPr/>
          <p:nvPr/>
        </p:nvSpPr>
        <p:spPr>
          <a:xfrm>
            <a:off x="822960" y="2011680"/>
            <a:ext cx="10058400" cy="8686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Source systems</a:t>
            </a:r>
          </a:p>
          <a:p>
            <a:pPr>
              <a:spcBef>
                <a:spcPts val="300"/>
              </a:spcBef>
            </a:pPr>
            <a:r>
              <a:rPr sz="1200">
                <a:solidFill>
                  <a:srgbClr val="5C6663"/>
                </a:solidFill>
              </a:rPr>
              <a:t>TM Forum data (cdm_tmforum.tmf_*, read-only) + simulated Salesforce CPQ, Oracle ERP, Refinitiv FX, Ironclad CLM, MDM</a:t>
            </a:r>
          </a:p>
        </p:txBody>
      </p:sp>
      <p:sp>
        <p:nvSpPr>
          <p:cNvPr id="7" name="Rounded Rectangle 6"/>
          <p:cNvSpPr/>
          <p:nvPr/>
        </p:nvSpPr>
        <p:spPr>
          <a:xfrm>
            <a:off x="822960" y="2999232"/>
            <a:ext cx="10058400" cy="8686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Governed reconciliation</a:t>
            </a:r>
          </a:p>
          <a:p>
            <a:pPr>
              <a:spcBef>
                <a:spcPts val="300"/>
              </a:spcBef>
            </a:pPr>
            <a:r>
              <a:rPr sz="1200">
                <a:solidFill>
                  <a:srgbClr val="5C6663"/>
                </a:solidFill>
              </a:rPr>
              <a:t>Unity Catalog · 7 SQL controls · document intelligence (ai_parse_document/ai_extract) · forecast anomaly detection (ai_forecast)</a:t>
            </a:r>
          </a:p>
        </p:txBody>
      </p:sp>
      <p:sp>
        <p:nvSpPr>
          <p:cNvPr id="8" name="Rounded Rectangle 7"/>
          <p:cNvSpPr/>
          <p:nvPr/>
        </p:nvSpPr>
        <p:spPr>
          <a:xfrm>
            <a:off x="822960" y="3986784"/>
            <a:ext cx="10058400" cy="8686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Unified leakage register [MEASURED]</a:t>
            </a:r>
          </a:p>
          <a:p>
            <a:pPr>
              <a:spcBef>
                <a:spcPts val="300"/>
              </a:spcBef>
            </a:pPr>
            <a:r>
              <a:rPr sz="1200">
                <a:solidFill>
                  <a:srgbClr val="5C6663"/>
                </a:solidFill>
              </a:rPr>
              <a:t>gold_leakage_summary — ~48,108 demo exceptions · ~$601.5M demo amount at risk · evidence on every row</a:t>
            </a:r>
          </a:p>
        </p:txBody>
      </p:sp>
      <p:sp>
        <p:nvSpPr>
          <p:cNvPr id="9" name="Rounded Rectangle 8"/>
          <p:cNvSpPr/>
          <p:nvPr/>
        </p:nvSpPr>
        <p:spPr>
          <a:xfrm>
            <a:off x="822960" y="4974336"/>
            <a:ext cx="10058400" cy="8686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Persona-specific action</a:t>
            </a:r>
          </a:p>
          <a:p>
            <a:pPr>
              <a:spcBef>
                <a:spcPts val="300"/>
              </a:spcBef>
            </a:pPr>
            <a:r>
              <a:rPr sz="1200">
                <a:solidFill>
                  <a:srgbClr val="5C6663"/>
                </a:solidFill>
              </a:rPr>
              <a:t>AI/BI dashboard (Dana) · Genie space (Marcus) · RA Exceptions Console (Marcus) · Lakebase case workflow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DEMO CONTRACT · SETUP 3 OF 7</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In the next 16 minutes, three outcomes</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The verbal contract before switching to the live demo.</a:t>
            </a:r>
          </a:p>
        </p:txBody>
      </p:sp>
      <p:sp>
        <p:nvSpPr>
          <p:cNvPr id="6" name="Rounded Rectangle 5"/>
          <p:cNvSpPr/>
          <p:nvPr/>
        </p:nvSpPr>
        <p:spPr>
          <a:xfrm>
            <a:off x="685800" y="2011680"/>
            <a:ext cx="3429000" cy="13716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1 · Quantify</a:t>
            </a:r>
          </a:p>
          <a:p>
            <a:pPr>
              <a:spcBef>
                <a:spcPts val="300"/>
              </a:spcBef>
            </a:pPr>
            <a:r>
              <a:rPr sz="1100">
                <a:solidFill>
                  <a:srgbClr val="5C6663"/>
                </a:solidFill>
              </a:rPr>
              <a:t>One executive view of total exposure and concentration</a:t>
            </a:r>
          </a:p>
        </p:txBody>
      </p:sp>
      <p:sp>
        <p:nvSpPr>
          <p:cNvPr id="7" name="Rounded Rectangle 6"/>
          <p:cNvSpPr/>
          <p:nvPr/>
        </p:nvSpPr>
        <p:spPr>
          <a:xfrm>
            <a:off x="4251960" y="2011680"/>
            <a:ext cx="3429000" cy="13716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2 · Prove</a:t>
            </a:r>
          </a:p>
          <a:p>
            <a:pPr>
              <a:spcBef>
                <a:spcPts val="300"/>
              </a:spcBef>
            </a:pPr>
            <a:r>
              <a:rPr sz="1100">
                <a:solidFill>
                  <a:srgbClr val="5C6663"/>
                </a:solidFill>
              </a:rPr>
              <a:t>Evidence, lineage, and detection method for each exception</a:t>
            </a:r>
          </a:p>
        </p:txBody>
      </p:sp>
      <p:sp>
        <p:nvSpPr>
          <p:cNvPr id="8" name="Rounded Rectangle 7"/>
          <p:cNvSpPr/>
          <p:nvPr/>
        </p:nvSpPr>
        <p:spPr>
          <a:xfrm>
            <a:off x="7818120" y="2011680"/>
            <a:ext cx="3429000" cy="13716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3 · Recover</a:t>
            </a:r>
          </a:p>
          <a:p>
            <a:pPr>
              <a:spcBef>
                <a:spcPts val="300"/>
              </a:spcBef>
            </a:pPr>
            <a:r>
              <a:rPr sz="1100">
                <a:solidFill>
                  <a:srgbClr val="5C6663"/>
                </a:solidFill>
              </a:rPr>
              <a:t>Prioritized ownership, notes, and controlled lifecycle movement</a:t>
            </a:r>
          </a:p>
        </p:txBody>
      </p:sp>
      <p:sp>
        <p:nvSpPr>
          <p:cNvPr id="9" name="Rounded Rectangle 8"/>
          <p:cNvSpPr/>
          <p:nvPr/>
        </p:nvSpPr>
        <p:spPr>
          <a:xfrm>
            <a:off x="685800" y="3566160"/>
            <a:ext cx="10561320" cy="14630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Live surfaces</a:t>
            </a:r>
          </a:p>
          <a:p>
            <a:pPr>
              <a:spcBef>
                <a:spcPts val="300"/>
              </a:spcBef>
            </a:pPr>
            <a:r>
              <a:rPr sz="1300">
                <a:solidFill>
                  <a:srgbClr val="5C6663"/>
                </a:solidFill>
              </a:rPr>
              <a:t>Lakelink Fiber — Revenue Assurance Command Center (AI/BI)</a:t>
            </a:r>
          </a:p>
          <a:p>
            <a:pPr>
              <a:spcBef>
                <a:spcPts val="300"/>
              </a:spcBef>
            </a:pPr>
            <a:r>
              <a:rPr sz="1300">
                <a:solidFill>
                  <a:srgbClr val="5C6663"/>
                </a:solidFill>
              </a:rPr>
              <a:t>RA Exceptions Console (AppKit)</a:t>
            </a:r>
          </a:p>
          <a:p>
            <a:pPr>
              <a:spcBef>
                <a:spcPts val="300"/>
              </a:spcBef>
            </a:pPr>
            <a:r>
              <a:rPr sz="1300">
                <a:solidFill>
                  <a:srgbClr val="5C6663"/>
                </a:solidFill>
              </a:rPr>
              <a:t>Unity Catalog + Architecture tab links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LIVE DEMO 1 OF 7 · SHOW 3:00</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Executive Command Center</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The first question an executive asks is how much revenue is at risk and whether that number is getting better.</a:t>
            </a:r>
          </a:p>
        </p:txBody>
      </p:sp>
      <p:sp>
        <p:nvSpPr>
          <p:cNvPr id="6" name="Rounded Rectangle 5"/>
          <p:cNvSpPr/>
          <p:nvPr/>
        </p:nvSpPr>
        <p:spPr>
          <a:xfrm>
            <a:off x="685800" y="2011680"/>
            <a:ext cx="2514600" cy="11887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2000">
                <a:solidFill>
                  <a:srgbClr val="1C2321"/>
                </a:solidFill>
              </a:rPr>
              <a:t>$601.5M</a:t>
            </a:r>
          </a:p>
          <a:p>
            <a:pPr>
              <a:spcBef>
                <a:spcPts val="300"/>
              </a:spcBef>
            </a:pPr>
            <a:r>
              <a:rPr sz="1100">
                <a:solidFill>
                  <a:srgbClr val="5C6663"/>
                </a:solidFill>
              </a:rPr>
              <a:t>Total amount at risk (demo)</a:t>
            </a:r>
          </a:p>
        </p:txBody>
      </p:sp>
      <p:sp>
        <p:nvSpPr>
          <p:cNvPr id="7" name="Rounded Rectangle 6"/>
          <p:cNvSpPr/>
          <p:nvPr/>
        </p:nvSpPr>
        <p:spPr>
          <a:xfrm>
            <a:off x="3337560" y="2011680"/>
            <a:ext cx="2514600" cy="11887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2000">
                <a:solidFill>
                  <a:srgbClr val="1C2321"/>
                </a:solidFill>
              </a:rPr>
              <a:t>48,108</a:t>
            </a:r>
          </a:p>
          <a:p>
            <a:pPr>
              <a:spcBef>
                <a:spcPts val="300"/>
              </a:spcBef>
            </a:pPr>
            <a:r>
              <a:rPr sz="1100">
                <a:solidFill>
                  <a:srgbClr val="5C6663"/>
                </a:solidFill>
              </a:rPr>
              <a:t>Open exceptions (demo)</a:t>
            </a:r>
          </a:p>
        </p:txBody>
      </p:sp>
      <p:sp>
        <p:nvSpPr>
          <p:cNvPr id="8" name="Rounded Rectangle 7"/>
          <p:cNvSpPr/>
          <p:nvPr/>
        </p:nvSpPr>
        <p:spPr>
          <a:xfrm>
            <a:off x="5989320" y="2011680"/>
            <a:ext cx="2514600" cy="11887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2000">
                <a:solidFill>
                  <a:srgbClr val="1C2321"/>
                </a:solidFill>
              </a:rPr>
              <a:t>$127.5M</a:t>
            </a:r>
          </a:p>
          <a:p>
            <a:pPr>
              <a:spcBef>
                <a:spcPts val="300"/>
              </a:spcBef>
            </a:pPr>
            <a:r>
              <a:rPr sz="1100">
                <a:solidFill>
                  <a:srgbClr val="5C6663"/>
                </a:solidFill>
              </a:rPr>
              <a:t>High-severity at risk (demo)</a:t>
            </a:r>
          </a:p>
        </p:txBody>
      </p:sp>
      <p:sp>
        <p:nvSpPr>
          <p:cNvPr id="9" name="Rounded Rectangle 8"/>
          <p:cNvSpPr/>
          <p:nvPr/>
        </p:nvSpPr>
        <p:spPr>
          <a:xfrm>
            <a:off x="8641080" y="2011680"/>
            <a:ext cx="2514600" cy="11887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2000">
                <a:solidFill>
                  <a:srgbClr val="1C2321"/>
                </a:solidFill>
              </a:rPr>
              <a:t>~8,200</a:t>
            </a:r>
          </a:p>
          <a:p>
            <a:pPr>
              <a:spcBef>
                <a:spcPts val="300"/>
              </a:spcBef>
            </a:pPr>
            <a:r>
              <a:rPr sz="1100">
                <a:solidFill>
                  <a:srgbClr val="5C6663"/>
                </a:solidFill>
              </a:rPr>
              <a:t>Accounts affected (demo)</a:t>
            </a:r>
          </a:p>
        </p:txBody>
      </p:sp>
      <p:sp>
        <p:nvSpPr>
          <p:cNvPr id="10" name="Rounded Rectangle 9"/>
          <p:cNvSpPr/>
          <p:nvPr/>
        </p:nvSpPr>
        <p:spPr>
          <a:xfrm>
            <a:off x="685800" y="3383280"/>
            <a:ext cx="10561320" cy="17373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Demo cues</a:t>
            </a:r>
          </a:p>
          <a:p>
            <a:pPr>
              <a:spcBef>
                <a:spcPts val="300"/>
              </a:spcBef>
            </a:pPr>
            <a:r>
              <a:rPr sz="1200">
                <a:solidFill>
                  <a:srgbClr val="5C6663"/>
                </a:solidFill>
              </a:rPr>
              <a:t>1. Show Executive Summary KPI tiles.</a:t>
            </a:r>
          </a:p>
          <a:p>
            <a:pPr>
              <a:spcBef>
                <a:spcPts val="300"/>
              </a:spcBef>
            </a:pPr>
            <a:r>
              <a:rPr sz="1200">
                <a:solidFill>
                  <a:srgbClr val="5C6663"/>
                </a:solidFill>
              </a:rPr>
              <a:t>2. State clearly: ~$601.5M and ~48K figures are demo-data outputs, not Lumen measurements.</a:t>
            </a:r>
          </a:p>
          <a:p>
            <a:pPr>
              <a:spcBef>
                <a:spcPts val="300"/>
              </a:spcBef>
            </a:pPr>
            <a:r>
              <a:rPr sz="1200">
                <a:solidFill>
                  <a:srgbClr val="5C6663"/>
                </a:solidFill>
              </a:rPr>
              <a:t>3. Move to Leakage by Check Type — AR collection risk dominates.</a:t>
            </a:r>
          </a:p>
          <a:p>
            <a:pPr>
              <a:spcBef>
                <a:spcPts val="300"/>
              </a:spcBef>
            </a:pPr>
            <a:r>
              <a:rPr sz="1200">
                <a:solidFill>
                  <a:srgbClr val="5C6663"/>
                </a:solidFill>
              </a:rPr>
              <a:t>4. Move briefly to Customer Risk Scorecard.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LIVE DEMO 2 OF 7 · SHOW 1:30</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Overview: the same truth for an analyst</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The executive and analyst should not debate different numbers.</a:t>
            </a:r>
          </a:p>
        </p:txBody>
      </p:sp>
      <p:sp>
        <p:nvSpPr>
          <p:cNvPr id="6" name="Rounded Rectangle 5"/>
          <p:cNvSpPr/>
          <p:nvPr/>
        </p:nvSpPr>
        <p:spPr>
          <a:xfrm>
            <a:off x="685800" y="2011680"/>
            <a:ext cx="10561320" cy="20116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RA Exceptions Console → Overview</a:t>
            </a:r>
          </a:p>
          <a:p>
            <a:pPr>
              <a:spcBef>
                <a:spcPts val="300"/>
              </a:spcBef>
            </a:pPr>
            <a:r>
              <a:rPr sz="1300">
                <a:solidFill>
                  <a:srgbClr val="5C6663"/>
                </a:solidFill>
              </a:rPr>
              <a:t>ar_collection_risk: ~$500M</a:t>
            </a:r>
          </a:p>
          <a:p>
            <a:pPr>
              <a:spcBef>
                <a:spcPts val="300"/>
              </a:spcBef>
            </a:pPr>
            <a:r>
              <a:rPr sz="1300">
                <a:solidFill>
                  <a:srgbClr val="5C6663"/>
                </a:solidFill>
              </a:rPr>
              <a:t>rev_rec_timing_mismatch: ~$85.7M</a:t>
            </a:r>
          </a:p>
          <a:p>
            <a:pPr>
              <a:spcBef>
                <a:spcPts val="300"/>
              </a:spcBef>
            </a:pPr>
            <a:r>
              <a:rPr sz="1300">
                <a:solidFill>
                  <a:srgbClr val="5C6663"/>
                </a:solidFill>
              </a:rPr>
              <a:t>unauthorized_discount: ~$13.9M</a:t>
            </a:r>
          </a:p>
        </p:txBody>
      </p:sp>
      <p:sp>
        <p:nvSpPr>
          <p:cNvPr id="7" name="TextBox 6"/>
          <p:cNvSpPr txBox="1"/>
          <p:nvPr/>
        </p:nvSpPr>
        <p:spPr>
          <a:xfrm>
            <a:off x="685800" y="4206240"/>
            <a:ext cx="10561320" cy="457200"/>
          </a:xfrm>
          <a:prstGeom prst="rect">
            <a:avLst/>
          </a:prstGeom>
          <a:noFill/>
        </p:spPr>
        <p:txBody>
          <a:bodyPr wrap="square">
            <a:spAutoFit/>
          </a:bodyPr>
          <a:lstStyle/>
          <a:p>
            <a:pPr algn="l">
              <a:lnSpc>
                <a:spcPct val="115000"/>
              </a:lnSpc>
            </a:pPr>
            <a:r>
              <a:rPr sz="1200" b="0" i="0">
                <a:solidFill>
                  <a:srgbClr val="5C6663"/>
                </a:solidFill>
                <a:latin typeface="Calibri"/>
              </a:rPr>
              <a:t>Point out loading, error, retry, and empty-state behavior without dwelling on UI mechanics.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LIVE DEMO 3 OF 7 · SHOW 2:00</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Exception Queue: prioritize the work</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Forty-eight thousand exceptions are not a to-do list. Prioritization is the product.</a:t>
            </a:r>
          </a:p>
        </p:txBody>
      </p:sp>
      <p:graphicFrame>
        <p:nvGraphicFramePr>
          <p:cNvPr id="6" name="Table 5"/>
          <p:cNvGraphicFramePr>
            <a:graphicFrameLocks noGrp="1"/>
          </p:cNvGraphicFramePr>
          <p:nvPr/>
        </p:nvGraphicFramePr>
        <p:xfrm>
          <a:off x="685800" y="2011680"/>
          <a:ext cx="10561320" cy="1463040"/>
        </p:xfrm>
        <a:graphic>
          <a:graphicData uri="http://schemas.openxmlformats.org/drawingml/2006/table">
            <a:tbl>
              <a:tblPr firstRow="1" bandRow="1">
                <a:tableStyleId>{5C22544A-7EE6-4342-B048-85BDC9FD1C3A}</a:tableStyleId>
              </a:tblPr>
              <a:tblGrid>
                <a:gridCol w="2112264"/>
                <a:gridCol w="2112264"/>
                <a:gridCol w="2112264"/>
                <a:gridCol w="2112264"/>
                <a:gridCol w="2112264"/>
              </a:tblGrid>
              <a:tr h="365760">
                <a:tc>
                  <a:txBody>
                    <a:bodyPr/>
                    <a:lstStyle/>
                    <a:p>
                      <a:r>
                        <a:rPr b="1" sz="1100"/>
                        <a:t>Check type</a:t>
                      </a:r>
                    </a:p>
                  </a:txBody>
                  <a:tcPr/>
                </a:tc>
                <a:tc>
                  <a:txBody>
                    <a:bodyPr/>
                    <a:lstStyle/>
                    <a:p>
                      <a:r>
                        <a:rPr b="1" sz="1100"/>
                        <a:t>Account</a:t>
                      </a:r>
                    </a:p>
                  </a:txBody>
                  <a:tcPr/>
                </a:tc>
                <a:tc>
                  <a:txBody>
                    <a:bodyPr/>
                    <a:lstStyle/>
                    <a:p>
                      <a:r>
                        <a:rPr b="1" sz="1100"/>
                        <a:t>Severity</a:t>
                      </a:r>
                    </a:p>
                  </a:txBody>
                  <a:tcPr/>
                </a:tc>
                <a:tc>
                  <a:txBody>
                    <a:bodyPr/>
                    <a:lstStyle/>
                    <a:p>
                      <a:r>
                        <a:rPr b="1" sz="1100"/>
                        <a:t>Impact $</a:t>
                      </a:r>
                    </a:p>
                  </a:txBody>
                  <a:tcPr/>
                </a:tc>
                <a:tc>
                  <a:txBody>
                    <a:bodyPr/>
                    <a:lstStyle/>
                    <a:p>
                      <a:r>
                        <a:rPr b="1" sz="1100"/>
                        <a:t>Status</a:t>
                      </a:r>
                    </a:p>
                  </a:txBody>
                  <a:tcPr/>
                </a:tc>
              </a:tr>
              <a:tr h="365760">
                <a:tc>
                  <a:txBody>
                    <a:bodyPr/>
                    <a:lstStyle/>
                    <a:p>
                      <a:r>
                        <a:rPr sz="1100"/>
                        <a:t>ar_collection_risk</a:t>
                      </a:r>
                    </a:p>
                  </a:txBody>
                  <a:tcPr/>
                </a:tc>
                <a:tc>
                  <a:txBody>
                    <a:bodyPr/>
                    <a:lstStyle/>
                    <a:p>
                      <a:r>
                        <a:rPr sz="1100"/>
                        <a:t>Meridian Logistics Corp</a:t>
                      </a:r>
                    </a:p>
                  </a:txBody>
                  <a:tcPr/>
                </a:tc>
                <a:tc>
                  <a:txBody>
                    <a:bodyPr/>
                    <a:lstStyle/>
                    <a:p>
                      <a:r>
                        <a:rPr sz="1100"/>
                        <a:t>High</a:t>
                      </a:r>
                    </a:p>
                  </a:txBody>
                  <a:tcPr/>
                </a:tc>
                <a:tc>
                  <a:txBody>
                    <a:bodyPr/>
                    <a:lstStyle/>
                    <a:p>
                      <a:r>
                        <a:rPr sz="1100"/>
                        <a:t>$284,000</a:t>
                      </a:r>
                    </a:p>
                  </a:txBody>
                  <a:tcPr/>
                </a:tc>
                <a:tc>
                  <a:txBody>
                    <a:bodyPr/>
                    <a:lstStyle/>
                    <a:p>
                      <a:r>
                        <a:rPr sz="1100"/>
                        <a:t>New</a:t>
                      </a:r>
                    </a:p>
                  </a:txBody>
                  <a:tcPr/>
                </a:tc>
              </a:tr>
              <a:tr h="365760">
                <a:tc>
                  <a:txBody>
                    <a:bodyPr/>
                    <a:lstStyle/>
                    <a:p>
                      <a:r>
                        <a:rPr sz="1100"/>
                        <a:t>contract_price_mismatch</a:t>
                      </a:r>
                    </a:p>
                  </a:txBody>
                  <a:tcPr/>
                </a:tc>
                <a:tc>
                  <a:txBody>
                    <a:bodyPr/>
                    <a:lstStyle/>
                    <a:p>
                      <a:r>
                        <a:rPr sz="1100"/>
                        <a:t>Harbor Point Manufacturing</a:t>
                      </a:r>
                    </a:p>
                  </a:txBody>
                  <a:tcPr/>
                </a:tc>
                <a:tc>
                  <a:txBody>
                    <a:bodyPr/>
                    <a:lstStyle/>
                    <a:p>
                      <a:r>
                        <a:rPr sz="1100"/>
                        <a:t>High</a:t>
                      </a:r>
                    </a:p>
                  </a:txBody>
                  <a:tcPr/>
                </a:tc>
                <a:tc>
                  <a:txBody>
                    <a:bodyPr/>
                    <a:lstStyle/>
                    <a:p>
                      <a:r>
                        <a:rPr sz="1100"/>
                        <a:t>$171,500</a:t>
                      </a:r>
                    </a:p>
                  </a:txBody>
                  <a:tcPr/>
                </a:tc>
                <a:tc>
                  <a:txBody>
                    <a:bodyPr/>
                    <a:lstStyle/>
                    <a:p>
                      <a:r>
                        <a:rPr sz="1100"/>
                        <a:t>Investigating</a:t>
                      </a:r>
                    </a:p>
                  </a:txBody>
                  <a:tcPr/>
                </a:tc>
              </a:tr>
              <a:tr h="365760">
                <a:tc>
                  <a:txBody>
                    <a:bodyPr/>
                    <a:lstStyle/>
                    <a:p>
                      <a:r>
                        <a:rPr sz="1100"/>
                        <a:t>unauthorized_discount</a:t>
                      </a:r>
                    </a:p>
                  </a:txBody>
                  <a:tcPr/>
                </a:tc>
                <a:tc>
                  <a:txBody>
                    <a:bodyPr/>
                    <a:lstStyle/>
                    <a:p>
                      <a:r>
                        <a:rPr sz="1100"/>
                        <a:t>Palisade Health Network</a:t>
                      </a:r>
                    </a:p>
                  </a:txBody>
                  <a:tcPr/>
                </a:tc>
                <a:tc>
                  <a:txBody>
                    <a:bodyPr/>
                    <a:lstStyle/>
                    <a:p>
                      <a:r>
                        <a:rPr sz="1100"/>
                        <a:t>Medium</a:t>
                      </a:r>
                    </a:p>
                  </a:txBody>
                  <a:tcPr/>
                </a:tc>
                <a:tc>
                  <a:txBody>
                    <a:bodyPr/>
                    <a:lstStyle/>
                    <a:p>
                      <a:r>
                        <a:rPr sz="1100"/>
                        <a:t>$96,200</a:t>
                      </a:r>
                    </a:p>
                  </a:txBody>
                  <a:tcPr/>
                </a:tc>
                <a:tc>
                  <a:txBody>
                    <a:bodyPr/>
                    <a:lstStyle/>
                    <a:p>
                      <a:r>
                        <a:rPr sz="1100"/>
                        <a:t>Recovering</a:t>
                      </a:r>
                    </a:p>
                  </a:txBody>
                  <a:tcPr/>
                </a:tc>
              </a:tr>
            </a:tbl>
          </a:graphicData>
        </a:graphic>
      </p:graphicFrame>
      <p:sp>
        <p:nvSpPr>
          <p:cNvPr id="7" name="Rounded Rectangle 6"/>
          <p:cNvSpPr/>
          <p:nvPr/>
        </p:nvSpPr>
        <p:spPr>
          <a:xfrm>
            <a:off x="685800" y="3657600"/>
            <a:ext cx="10561320" cy="14630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Demo cues</a:t>
            </a:r>
          </a:p>
          <a:p>
            <a:pPr>
              <a:spcBef>
                <a:spcPts val="300"/>
              </a:spcBef>
            </a:pPr>
            <a:r>
              <a:rPr sz="1200">
                <a:solidFill>
                  <a:srgbClr val="5C6663"/>
                </a:solidFill>
              </a:rPr>
              <a:t>1. Sort or scan by amount at risk.</a:t>
            </a:r>
          </a:p>
          <a:p>
            <a:pPr>
              <a:spcBef>
                <a:spcPts val="300"/>
              </a:spcBef>
            </a:pPr>
            <a:r>
              <a:rPr sz="1200">
                <a:solidFill>
                  <a:srgbClr val="5C6663"/>
                </a:solidFill>
              </a:rPr>
              <a:t>2. Filter to a high-value root cause or severity.</a:t>
            </a:r>
          </a:p>
          <a:p>
            <a:pPr>
              <a:spcBef>
                <a:spcPts val="300"/>
              </a:spcBef>
            </a:pPr>
            <a:r>
              <a:rPr sz="1200">
                <a:solidFill>
                  <a:srgbClr val="5C6663"/>
                </a:solidFill>
              </a:rPr>
              <a:t>3. Show keyboard-accessible filters and row action.</a:t>
            </a:r>
          </a:p>
          <a:p>
            <a:pPr>
              <a:spcBef>
                <a:spcPts val="300"/>
              </a:spcBef>
            </a:pPr>
            <a:r>
              <a:rPr sz="1200">
                <a:solidFill>
                  <a:srgbClr val="5C6663"/>
                </a:solidFill>
              </a:rPr>
              <a:t>4. Open one exception.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LIVE DEMO 4 OF 7 · SHOW 2:30</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Exception evidence: prove every dollar</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A revenue-assurance signal is only useful if finance, audit, and engineering can reproduce it.</a:t>
            </a:r>
          </a:p>
        </p:txBody>
      </p:sp>
      <p:sp>
        <p:nvSpPr>
          <p:cNvPr id="6" name="Rounded Rectangle 5"/>
          <p:cNvSpPr/>
          <p:nvPr/>
        </p:nvSpPr>
        <p:spPr>
          <a:xfrm>
            <a:off x="685800" y="2011680"/>
            <a:ext cx="5120640" cy="27432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Detection evidence</a:t>
            </a:r>
          </a:p>
          <a:p>
            <a:pPr>
              <a:spcBef>
                <a:spcPts val="300"/>
              </a:spcBef>
            </a:pPr>
            <a:r>
              <a:rPr sz="1200">
                <a:solidFill>
                  <a:srgbClr val="5C6663"/>
                </a:solidFill>
              </a:rPr>
              <a:t>Check type: contract_price_mismatch</a:t>
            </a:r>
          </a:p>
          <a:p>
            <a:pPr>
              <a:spcBef>
                <a:spcPts val="300"/>
              </a:spcBef>
            </a:pPr>
            <a:r>
              <a:rPr sz="1200">
                <a:solidFill>
                  <a:srgbClr val="5C6663"/>
                </a:solidFill>
              </a:rPr>
              <a:t>Reference: ContractNumber CN-40218</a:t>
            </a:r>
          </a:p>
          <a:p>
            <a:pPr>
              <a:spcBef>
                <a:spcPts val="300"/>
              </a:spcBef>
            </a:pPr>
            <a:r>
              <a:rPr sz="1200">
                <a:solidFill>
                  <a:srgbClr val="5C6663"/>
                </a:solidFill>
              </a:rPr>
              <a:t>Detection method: rule_based</a:t>
            </a:r>
          </a:p>
          <a:p>
            <a:pPr>
              <a:spcBef>
                <a:spcPts val="300"/>
              </a:spcBef>
            </a:pPr>
            <a:r>
              <a:rPr sz="1200">
                <a:solidFill>
                  <a:srgbClr val="5C6663"/>
                </a:solidFill>
              </a:rPr>
              <a:t>Source table: salesforce_source.contract_line_item</a:t>
            </a:r>
          </a:p>
          <a:p>
            <a:pPr>
              <a:spcBef>
                <a:spcPts val="300"/>
              </a:spcBef>
            </a:pPr>
            <a:r>
              <a:rPr sz="1200">
                <a:solidFill>
                  <a:srgbClr val="5C6663"/>
                </a:solidFill>
              </a:rPr>
              <a:t>Known-leakage flag: true</a:t>
            </a:r>
          </a:p>
        </p:txBody>
      </p:sp>
      <p:sp>
        <p:nvSpPr>
          <p:cNvPr id="7" name="Rounded Rectangle 6"/>
          <p:cNvSpPr/>
          <p:nvPr/>
        </p:nvSpPr>
        <p:spPr>
          <a:xfrm>
            <a:off x="5989320" y="2011680"/>
            <a:ext cx="5486400" cy="27432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Demo cues</a:t>
            </a:r>
          </a:p>
          <a:p>
            <a:pPr>
              <a:spcBef>
                <a:spcPts val="300"/>
              </a:spcBef>
            </a:pPr>
            <a:r>
              <a:rPr sz="1200">
                <a:solidFill>
                  <a:srgbClr val="5C6663"/>
                </a:solidFill>
              </a:rPr>
              <a:t>1. Show reference identifier and customer context.</a:t>
            </a:r>
          </a:p>
          <a:p>
            <a:pPr>
              <a:spcBef>
                <a:spcPts val="300"/>
              </a:spcBef>
            </a:pPr>
            <a:r>
              <a:rPr sz="1200">
                <a:solidFill>
                  <a:srgbClr val="5C6663"/>
                </a:solidFill>
              </a:rPr>
              <a:t>2. Show friendly source context and detection method.</a:t>
            </a:r>
          </a:p>
          <a:p>
            <a:pPr>
              <a:spcBef>
                <a:spcPts val="300"/>
              </a:spcBef>
            </a:pPr>
            <a:r>
              <a:rPr sz="1200">
                <a:solidFill>
                  <a:srgbClr val="5C6663"/>
                </a:solidFill>
              </a:rPr>
              <a:t>3. Show risk tier or scorecard state.</a:t>
            </a:r>
          </a:p>
          <a:p>
            <a:pPr>
              <a:spcBef>
                <a:spcPts val="300"/>
              </a:spcBef>
            </a:pPr>
            <a:r>
              <a:rPr sz="1200">
                <a:solidFill>
                  <a:srgbClr val="5C6663"/>
                </a:solidFill>
              </a:rPr>
              <a:t>4. Explain: Architecture tab exposes physical objects; business surfaces use friendly labels.</a:t>
            </a:r>
          </a:p>
          <a:p>
            <a:pPr>
              <a:spcBef>
                <a:spcPts val="300"/>
              </a:spcBef>
            </a:pPr>
            <a:r>
              <a:rPr sz="1200">
                <a:solidFill>
                  <a:srgbClr val="5C6663"/>
                </a:solidFill>
              </a:rPr>
              <a:t>5. If available, open a lineage or catalog link.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LIVE DEMO 5 OF 7 · SHOW 2:30</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My Cases: close the recovery loop</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Detection without recovery is a better report, not a business outcome.</a:t>
            </a:r>
          </a:p>
        </p:txBody>
      </p:sp>
      <p:sp>
        <p:nvSpPr>
          <p:cNvPr id="6" name="Rounded Rectangle 5"/>
          <p:cNvSpPr/>
          <p:nvPr/>
        </p:nvSpPr>
        <p:spPr>
          <a:xfrm>
            <a:off x="685800" y="2011680"/>
            <a:ext cx="2514600" cy="10058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New</a:t>
            </a:r>
          </a:p>
        </p:txBody>
      </p:sp>
      <p:sp>
        <p:nvSpPr>
          <p:cNvPr id="7" name="Rounded Rectangle 6"/>
          <p:cNvSpPr/>
          <p:nvPr/>
        </p:nvSpPr>
        <p:spPr>
          <a:xfrm>
            <a:off x="3337560" y="2011680"/>
            <a:ext cx="2514600" cy="10058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Investigating</a:t>
            </a:r>
          </a:p>
          <a:p>
            <a:pPr>
              <a:spcBef>
                <a:spcPts val="300"/>
              </a:spcBef>
            </a:pPr>
            <a:r>
              <a:rPr sz="1000">
                <a:solidFill>
                  <a:srgbClr val="5C6663"/>
                </a:solidFill>
              </a:rPr>
              <a:t>(requires assignee)</a:t>
            </a:r>
          </a:p>
        </p:txBody>
      </p:sp>
      <p:sp>
        <p:nvSpPr>
          <p:cNvPr id="8" name="Rounded Rectangle 7"/>
          <p:cNvSpPr/>
          <p:nvPr/>
        </p:nvSpPr>
        <p:spPr>
          <a:xfrm>
            <a:off x="5989320" y="2011680"/>
            <a:ext cx="2514600" cy="10058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Recovering</a:t>
            </a:r>
          </a:p>
        </p:txBody>
      </p:sp>
      <p:sp>
        <p:nvSpPr>
          <p:cNvPr id="9" name="Rounded Rectangle 8"/>
          <p:cNvSpPr/>
          <p:nvPr/>
        </p:nvSpPr>
        <p:spPr>
          <a:xfrm>
            <a:off x="8641080" y="2011680"/>
            <a:ext cx="2514600" cy="10058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Recovered / Written off</a:t>
            </a:r>
          </a:p>
          <a:p>
            <a:pPr>
              <a:spcBef>
                <a:spcPts val="300"/>
              </a:spcBef>
            </a:pPr>
            <a:r>
              <a:rPr sz="1000">
                <a:solidFill>
                  <a:srgbClr val="5C6663"/>
                </a:solidFill>
              </a:rPr>
              <a:t>(terminal)</a:t>
            </a:r>
          </a:p>
        </p:txBody>
      </p:sp>
      <p:sp>
        <p:nvSpPr>
          <p:cNvPr id="10" name="Rounded Rectangle 9"/>
          <p:cNvSpPr/>
          <p:nvPr/>
        </p:nvSpPr>
        <p:spPr>
          <a:xfrm>
            <a:off x="685800" y="3200400"/>
            <a:ext cx="10561320" cy="18288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Demo cues</a:t>
            </a:r>
          </a:p>
          <a:p>
            <a:pPr>
              <a:spcBef>
                <a:spcPts val="300"/>
              </a:spcBef>
            </a:pPr>
            <a:r>
              <a:rPr sz="1200">
                <a:solidFill>
                  <a:srgbClr val="5C6663"/>
                </a:solidFill>
              </a:rPr>
              <a:t>1. Assign the exception to yourself or an analyst.</a:t>
            </a:r>
          </a:p>
          <a:p>
            <a:pPr>
              <a:spcBef>
                <a:spcPts val="300"/>
              </a:spcBef>
            </a:pPr>
            <a:r>
              <a:rPr sz="1200">
                <a:solidFill>
                  <a:srgbClr val="5C6663"/>
                </a:solidFill>
              </a:rPr>
              <a:t>2. Add a note describing the next action.</a:t>
            </a:r>
          </a:p>
          <a:p>
            <a:pPr>
              <a:spcBef>
                <a:spcPts val="300"/>
              </a:spcBef>
            </a:pPr>
            <a:r>
              <a:rPr sz="1200">
                <a:solidFill>
                  <a:srgbClr val="5C6663"/>
                </a:solidFill>
              </a:rPr>
              <a:t>3. Move New → Investigating → Recovering.</a:t>
            </a:r>
          </a:p>
          <a:p>
            <a:pPr>
              <a:spcBef>
                <a:spcPts val="300"/>
              </a:spcBef>
            </a:pPr>
            <a:r>
              <a:rPr sz="1200">
                <a:solidFill>
                  <a:srgbClr val="5C6663"/>
                </a:solidFill>
              </a:rPr>
              <a:t>4. Explain illegal lifecycle jumps are rejected.</a:t>
            </a:r>
          </a:p>
          <a:p>
            <a:pPr>
              <a:spcBef>
                <a:spcPts val="300"/>
              </a:spcBef>
            </a:pPr>
            <a:r>
              <a:rPr sz="1200">
                <a:solidFill>
                  <a:srgbClr val="5C6663"/>
                </a:solidFill>
              </a:rPr>
              <a:t>5. Open My cases to show owned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LIVE DEMO 6 OF 7 · SHOW 3:00</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Architecture: transparent and deployable</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We designed this to fit the data estate rather than requiring an eighteen-month replacement program.</a:t>
            </a:r>
          </a:p>
        </p:txBody>
      </p:sp>
      <p:sp>
        <p:nvSpPr>
          <p:cNvPr id="6" name="Rounded Rectangle 5"/>
          <p:cNvSpPr/>
          <p:nvPr/>
        </p:nvSpPr>
        <p:spPr>
          <a:xfrm>
            <a:off x="685800" y="2011680"/>
            <a:ext cx="2514600" cy="14173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1 · Lakehouse</a:t>
            </a:r>
          </a:p>
          <a:p>
            <a:pPr>
              <a:spcBef>
                <a:spcPts val="300"/>
              </a:spcBef>
            </a:pPr>
            <a:r>
              <a:rPr sz="1000">
                <a:solidFill>
                  <a:srgbClr val="5C6663"/>
                </a:solidFill>
              </a:rPr>
              <a:t>Existing TM Forum source foundation (cdm_tmforum.tmf_*, read-only)</a:t>
            </a:r>
          </a:p>
        </p:txBody>
      </p:sp>
      <p:sp>
        <p:nvSpPr>
          <p:cNvPr id="7" name="Rounded Rectangle 6"/>
          <p:cNvSpPr/>
          <p:nvPr/>
        </p:nvSpPr>
        <p:spPr>
          <a:xfrm>
            <a:off x="3337560" y="2011680"/>
            <a:ext cx="2514600" cy="14173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2 · Simulated sources</a:t>
            </a:r>
          </a:p>
          <a:p>
            <a:pPr>
              <a:spcBef>
                <a:spcPts val="300"/>
              </a:spcBef>
            </a:pPr>
            <a:r>
              <a:rPr sz="1000">
                <a:solidFill>
                  <a:srgbClr val="5C6663"/>
                </a:solidFill>
              </a:rPr>
              <a:t>*_source snapshots keyed to golden customers</a:t>
            </a:r>
          </a:p>
        </p:txBody>
      </p:sp>
      <p:sp>
        <p:nvSpPr>
          <p:cNvPr id="8" name="Rounded Rectangle 7"/>
          <p:cNvSpPr/>
          <p:nvPr/>
        </p:nvSpPr>
        <p:spPr>
          <a:xfrm>
            <a:off x="5989320" y="2011680"/>
            <a:ext cx="2514600" cy="14173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3 · Reconciliation pipelines</a:t>
            </a:r>
          </a:p>
          <a:p>
            <a:pPr>
              <a:spcBef>
                <a:spcPts val="300"/>
              </a:spcBef>
            </a:pPr>
            <a:r>
              <a:rPr sz="1000">
                <a:solidFill>
                  <a:srgbClr val="5C6663"/>
                </a:solidFill>
              </a:rPr>
              <a:t>Lakeflow SDP · 7 silver + 4 gold materialized views</a:t>
            </a:r>
          </a:p>
        </p:txBody>
      </p:sp>
      <p:sp>
        <p:nvSpPr>
          <p:cNvPr id="9" name="Rounded Rectangle 8"/>
          <p:cNvSpPr/>
          <p:nvPr/>
        </p:nvSpPr>
        <p:spPr>
          <a:xfrm>
            <a:off x="8641080" y="2011680"/>
            <a:ext cx="2514600" cy="14173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4 · Unified gold register</a:t>
            </a:r>
          </a:p>
          <a:p>
            <a:pPr>
              <a:spcBef>
                <a:spcPts val="300"/>
              </a:spcBef>
            </a:pPr>
            <a:r>
              <a:rPr sz="1000">
                <a:solidFill>
                  <a:srgbClr val="5C6663"/>
                </a:solidFill>
              </a:rPr>
              <a:t>gold_leakage_summary</a:t>
            </a:r>
          </a:p>
        </p:txBody>
      </p:sp>
      <p:sp>
        <p:nvSpPr>
          <p:cNvPr id="10" name="Rounded Rectangle 9"/>
          <p:cNvSpPr/>
          <p:nvPr/>
        </p:nvSpPr>
        <p:spPr>
          <a:xfrm>
            <a:off x="685800" y="3566160"/>
            <a:ext cx="2514600" cy="14173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5 · Serving</a:t>
            </a:r>
          </a:p>
          <a:p>
            <a:pPr>
              <a:spcBef>
                <a:spcPts val="300"/>
              </a:spcBef>
            </a:pPr>
            <a:r>
              <a:rPr sz="1000">
                <a:solidFill>
                  <a:srgbClr val="5C6663"/>
                </a:solidFill>
              </a:rPr>
              <a:t>AI/BI dashboard (Dana) + Genie One / RA Genie Agent (Marcus)</a:t>
            </a:r>
          </a:p>
        </p:txBody>
      </p:sp>
      <p:sp>
        <p:nvSpPr>
          <p:cNvPr id="11" name="Rounded Rectangle 10"/>
          <p:cNvSpPr/>
          <p:nvPr/>
        </p:nvSpPr>
        <p:spPr>
          <a:xfrm>
            <a:off x="3337560" y="3566160"/>
            <a:ext cx="2514600" cy="14173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6 · Agentic apps</a:t>
            </a:r>
          </a:p>
          <a:p>
            <a:pPr>
              <a:spcBef>
                <a:spcPts val="300"/>
              </a:spcBef>
            </a:pPr>
            <a:r>
              <a:rPr sz="1000">
                <a:solidFill>
                  <a:srgbClr val="5C6663"/>
                </a:solidFill>
              </a:rPr>
              <a:t>RA Exceptions Console (React/TypeScript) + Lakebase case store</a:t>
            </a:r>
          </a:p>
        </p:txBody>
      </p:sp>
      <p:sp>
        <p:nvSpPr>
          <p:cNvPr id="12" name="Rounded Rectangle 11"/>
          <p:cNvSpPr/>
          <p:nvPr/>
        </p:nvSpPr>
        <p:spPr>
          <a:xfrm>
            <a:off x="5989320" y="3566160"/>
            <a:ext cx="2514600" cy="14173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7 · Governance</a:t>
            </a:r>
          </a:p>
          <a:p>
            <a:pPr>
              <a:spcBef>
                <a:spcPts val="300"/>
              </a:spcBef>
            </a:pPr>
            <a:r>
              <a:rPr sz="1000">
                <a:solidFill>
                  <a:srgbClr val="5C6663"/>
                </a:solidFill>
              </a:rPr>
              <a:t>Unity Catalog — Metric Views · Domains · Glossary · Access</a:t>
            </a:r>
          </a:p>
        </p:txBody>
      </p:sp>
      <p:sp>
        <p:nvSpPr>
          <p:cNvPr id="13" name="Rounded Rectangle 12"/>
          <p:cNvSpPr/>
          <p:nvPr/>
        </p:nvSpPr>
        <p:spPr>
          <a:xfrm>
            <a:off x="8641080" y="3566160"/>
            <a:ext cx="2514600" cy="141732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Deployment</a:t>
            </a:r>
          </a:p>
          <a:p>
            <a:pPr>
              <a:spcBef>
                <a:spcPts val="300"/>
              </a:spcBef>
            </a:pPr>
            <a:r>
              <a:rPr sz="1000">
                <a:solidFill>
                  <a:srgbClr val="5C6663"/>
                </a:solidFill>
              </a:rPr>
              <a:t>Databricks Asset Bundles; one repository; incremental grants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LIVE DEMO 7 OF 7 · SHOW 2:00</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AI where it earns its place</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AI is useful here when it expands coverage beyond deterministic joins without weakening provenance.</a:t>
            </a:r>
          </a:p>
        </p:txBody>
      </p:sp>
      <p:sp>
        <p:nvSpPr>
          <p:cNvPr id="6" name="Rounded Rectangle 5"/>
          <p:cNvSpPr/>
          <p:nvPr/>
        </p:nvSpPr>
        <p:spPr>
          <a:xfrm>
            <a:off x="685800" y="2011680"/>
            <a:ext cx="3429000" cy="15544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Document Intelligence</a:t>
            </a:r>
          </a:p>
          <a:p>
            <a:pPr>
              <a:spcBef>
                <a:spcPts val="300"/>
              </a:spcBef>
            </a:pPr>
            <a:r>
              <a:rPr sz="1100">
                <a:solidFill>
                  <a:srgbClr val="5C6663"/>
                </a:solidFill>
              </a:rPr>
              <a:t>Compare Ironclad contract/invoice PDFs with structured records using ai_parse_document + ai_extract.</a:t>
            </a:r>
          </a:p>
        </p:txBody>
      </p:sp>
      <p:sp>
        <p:nvSpPr>
          <p:cNvPr id="7" name="Rounded Rectangle 6"/>
          <p:cNvSpPr/>
          <p:nvPr/>
        </p:nvSpPr>
        <p:spPr>
          <a:xfrm>
            <a:off x="4251960" y="2011680"/>
            <a:ext cx="3429000" cy="15544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Forecast vs. Actuals</a:t>
            </a:r>
          </a:p>
          <a:p>
            <a:pPr>
              <a:spcBef>
                <a:spcPts val="300"/>
              </a:spcBef>
            </a:pPr>
            <a:r>
              <a:rPr sz="1100">
                <a:solidFill>
                  <a:srgbClr val="5C6663"/>
                </a:solidFill>
              </a:rPr>
              <a:t>Actual revenue, ai_forecast interval, and budget comparison per month.</a:t>
            </a:r>
          </a:p>
        </p:txBody>
      </p:sp>
      <p:sp>
        <p:nvSpPr>
          <p:cNvPr id="8" name="Rounded Rectangle 7"/>
          <p:cNvSpPr/>
          <p:nvPr/>
        </p:nvSpPr>
        <p:spPr>
          <a:xfrm>
            <a:off x="7818120" y="2011680"/>
            <a:ext cx="3429000" cy="15544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Genie</a:t>
            </a:r>
          </a:p>
          <a:p>
            <a:pPr>
              <a:spcBef>
                <a:spcPts val="300"/>
              </a:spcBef>
            </a:pPr>
            <a:r>
              <a:rPr sz="1100">
                <a:solidFill>
                  <a:srgbClr val="5C6663"/>
                </a:solidFill>
              </a:rPr>
              <a:t>One scripted natural-language question against governed data.</a:t>
            </a:r>
          </a:p>
        </p:txBody>
      </p:sp>
      <p:sp>
        <p:nvSpPr>
          <p:cNvPr id="9" name="Rounded Rectangle 8"/>
          <p:cNvSpPr/>
          <p:nvPr/>
        </p:nvSpPr>
        <p:spPr>
          <a:xfrm>
            <a:off x="685800" y="3749040"/>
            <a:ext cx="10561320" cy="14630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AI-as-force-multiplier disclosure</a:t>
            </a:r>
          </a:p>
          <a:p>
            <a:pPr>
              <a:spcBef>
                <a:spcPts val="300"/>
              </a:spcBef>
            </a:pPr>
            <a:r>
              <a:rPr sz="1100">
                <a:solidFill>
                  <a:srgbClr val="5C6663"/>
                </a:solidFill>
              </a:rPr>
              <a:t>AI-assisted development accelerated repository analysis, UX review, test creation, and cross-vendor code review.</a:t>
            </a:r>
          </a:p>
          <a:p>
            <a:pPr>
              <a:spcBef>
                <a:spcPts val="300"/>
              </a:spcBef>
            </a:pPr>
            <a:r>
              <a:rPr sz="1100">
                <a:solidFill>
                  <a:srgbClr val="5C6663"/>
                </a:solidFill>
              </a:rPr>
              <a:t>Deterministic quality gates and independent review were retained.</a:t>
            </a:r>
          </a:p>
          <a:p>
            <a:pPr>
              <a:spcBef>
                <a:spcPts val="300"/>
              </a:spcBef>
            </a:pPr>
            <a:r>
              <a:rPr sz="1100">
                <a:solidFill>
                  <a:srgbClr val="5C6663"/>
                </a:solidFill>
              </a:rPr>
              <a:t>Demo anomalies are intentionally seeded; not a claim of production model accuracy.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ENGINEERING RATIONALE · CLOSE 1 OF 4</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Decisions and trade-offs</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Intentional choices, not missing architecture.</a:t>
            </a:r>
          </a:p>
        </p:txBody>
      </p:sp>
      <p:graphicFrame>
        <p:nvGraphicFramePr>
          <p:cNvPr id="6" name="Table 5"/>
          <p:cNvGraphicFramePr>
            <a:graphicFrameLocks noGrp="1"/>
          </p:cNvGraphicFramePr>
          <p:nvPr/>
        </p:nvGraphicFramePr>
        <p:xfrm>
          <a:off x="685800" y="2011680"/>
          <a:ext cx="10561320" cy="4023360"/>
        </p:xfrm>
        <a:graphic>
          <a:graphicData uri="http://schemas.openxmlformats.org/drawingml/2006/table">
            <a:tbl>
              <a:tblPr firstRow="1" bandRow="1">
                <a:tableStyleId>{5C22544A-7EE6-4342-B048-85BDC9FD1C3A}</a:tableStyleId>
              </a:tblPr>
              <a:tblGrid>
                <a:gridCol w="3291840"/>
                <a:gridCol w="3840480"/>
                <a:gridCol w="3429000"/>
              </a:tblGrid>
              <a:tr h="502920">
                <a:tc>
                  <a:txBody>
                    <a:bodyPr/>
                    <a:lstStyle/>
                    <a:p>
                      <a:r>
                        <a:rPr b="1" sz="1100"/>
                        <a:t>Decision</a:t>
                      </a:r>
                    </a:p>
                  </a:txBody>
                  <a:tcPr/>
                </a:tc>
                <a:tc>
                  <a:txBody>
                    <a:bodyPr/>
                    <a:lstStyle/>
                    <a:p>
                      <a:r>
                        <a:rPr b="1" sz="1100"/>
                        <a:t>Why</a:t>
                      </a:r>
                    </a:p>
                  </a:txBody>
                  <a:tcPr/>
                </a:tc>
                <a:tc>
                  <a:txBody>
                    <a:bodyPr/>
                    <a:lstStyle/>
                    <a:p>
                      <a:r>
                        <a:rPr b="1" sz="1100"/>
                        <a:t>Trade-off</a:t>
                      </a:r>
                    </a:p>
                  </a:txBody>
                  <a:tcPr/>
                </a:tc>
              </a:tr>
              <a:tr h="502920">
                <a:tc>
                  <a:txBody>
                    <a:bodyPr/>
                    <a:lstStyle/>
                    <a:p>
                      <a:r>
                        <a:rPr sz="1000"/>
                        <a:t>Reuse TM Forum foundation</a:t>
                      </a:r>
                    </a:p>
                  </a:txBody>
                  <a:tcPr/>
                </a:tc>
                <a:tc>
                  <a:txBody>
                    <a:bodyPr/>
                    <a:lstStyle/>
                    <a:p>
                      <a:r>
                        <a:rPr sz="1000"/>
                        <a:t>Faster value, realistic relationships</a:t>
                      </a:r>
                    </a:p>
                  </a:txBody>
                  <a:tcPr/>
                </a:tc>
                <a:tc>
                  <a:txBody>
                    <a:bodyPr/>
                    <a:lstStyle/>
                    <a:p>
                      <a:r>
                        <a:rPr sz="1000"/>
                        <a:t>Depends on existing data readiness</a:t>
                      </a:r>
                    </a:p>
                  </a:txBody>
                  <a:tcPr/>
                </a:tc>
              </a:tr>
              <a:tr h="502920">
                <a:tc>
                  <a:txBody>
                    <a:bodyPr/>
                    <a:lstStyle/>
                    <a:p>
                      <a:r>
                        <a:rPr sz="1000"/>
                        <a:t>Batch-first controls</a:t>
                      </a:r>
                    </a:p>
                  </a:txBody>
                  <a:tcPr/>
                </a:tc>
                <a:tc>
                  <a:txBody>
                    <a:bodyPr/>
                    <a:lstStyle/>
                    <a:p>
                      <a:r>
                        <a:rPr sz="1000"/>
                        <a:t>Repeatable, auditable, demo-safe</a:t>
                      </a:r>
                    </a:p>
                  </a:txBody>
                  <a:tcPr/>
                </a:tc>
                <a:tc>
                  <a:txBody>
                    <a:bodyPr/>
                    <a:lstStyle/>
                    <a:p>
                      <a:r>
                        <a:rPr sz="1000"/>
                        <a:t>Not real-time ingestion</a:t>
                      </a:r>
                    </a:p>
                  </a:txBody>
                  <a:tcPr/>
                </a:tc>
              </a:tr>
              <a:tr h="502920">
                <a:tc>
                  <a:txBody>
                    <a:bodyPr/>
                    <a:lstStyle/>
                    <a:p>
                      <a:r>
                        <a:rPr sz="1000"/>
                        <a:t>SQL-first reconciliation</a:t>
                      </a:r>
                    </a:p>
                  </a:txBody>
                  <a:tcPr/>
                </a:tc>
                <a:tc>
                  <a:txBody>
                    <a:bodyPr/>
                    <a:lstStyle/>
                    <a:p>
                      <a:r>
                        <a:rPr sz="1000"/>
                        <a:t>Transparent to finance and audit</a:t>
                      </a:r>
                    </a:p>
                  </a:txBody>
                  <a:tcPr/>
                </a:tc>
                <a:tc>
                  <a:txBody>
                    <a:bodyPr/>
                    <a:lstStyle/>
                    <a:p>
                      <a:r>
                        <a:rPr sz="1000"/>
                        <a:t>Less custom flexibility</a:t>
                      </a:r>
                    </a:p>
                  </a:txBody>
                  <a:tcPr/>
                </a:tc>
              </a:tr>
              <a:tr h="502920">
                <a:tc>
                  <a:txBody>
                    <a:bodyPr/>
                    <a:lstStyle/>
                    <a:p>
                      <a:r>
                        <a:rPr sz="1000"/>
                        <a:t>One RA schema</a:t>
                      </a:r>
                    </a:p>
                  </a:txBody>
                  <a:tcPr/>
                </a:tc>
                <a:tc>
                  <a:txBody>
                    <a:bodyPr/>
                    <a:lstStyle/>
                    <a:p>
                      <a:r>
                        <a:rPr sz="1000"/>
                        <a:t>Simpler deployment and grants</a:t>
                      </a:r>
                    </a:p>
                  </a:txBody>
                  <a:tcPr/>
                </a:tc>
                <a:tc>
                  <a:txBody>
                    <a:bodyPr/>
                    <a:lstStyle/>
                    <a:p>
                      <a:r>
                        <a:rPr sz="1000"/>
                        <a:t>Less physical silver/gold separation</a:t>
                      </a:r>
                    </a:p>
                  </a:txBody>
                  <a:tcPr/>
                </a:tc>
              </a:tr>
              <a:tr h="502920">
                <a:tc>
                  <a:txBody>
                    <a:bodyPr/>
                    <a:lstStyle/>
                    <a:p>
                      <a:r>
                        <a:rPr sz="1000"/>
                        <a:t>Direct identity joins</a:t>
                      </a:r>
                    </a:p>
                  </a:txBody>
                  <a:tcPr/>
                </a:tc>
                <a:tc>
                  <a:txBody>
                    <a:bodyPr/>
                    <a:lstStyle/>
                    <a:p>
                      <a:r>
                        <a:rPr sz="1000"/>
                        <a:t>Fewer persisted objects</a:t>
                      </a:r>
                    </a:p>
                  </a:txBody>
                  <a:tcPr/>
                </a:tc>
                <a:tc>
                  <a:txBody>
                    <a:bodyPr/>
                    <a:lstStyle/>
                    <a:p>
                      <a:r>
                        <a:rPr sz="1000"/>
                        <a:t>Mapping logic can be duplicated</a:t>
                      </a:r>
                    </a:p>
                  </a:txBody>
                  <a:tcPr/>
                </a:tc>
              </a:tr>
              <a:tr h="502920">
                <a:tc>
                  <a:txBody>
                    <a:bodyPr/>
                    <a:lstStyle/>
                    <a:p>
                      <a:r>
                        <a:rPr sz="1000"/>
                        <a:t>Lakebase for cases</a:t>
                      </a:r>
                    </a:p>
                  </a:txBody>
                  <a:tcPr/>
                </a:tc>
                <a:tc>
                  <a:txBody>
                    <a:bodyPr/>
                    <a:lstStyle/>
                    <a:p>
                      <a:r>
                        <a:rPr sz="1000"/>
                        <a:t>Correct transactional behavior</a:t>
                      </a:r>
                    </a:p>
                  </a:txBody>
                  <a:tcPr/>
                </a:tc>
                <a:tc>
                  <a:txBody>
                    <a:bodyPr/>
                    <a:lstStyle/>
                    <a:p>
                      <a:r>
                        <a:rPr sz="1000"/>
                        <a:t>Requires sync for governed recovery KPIs</a:t>
                      </a:r>
                    </a:p>
                  </a:txBody>
                  <a:tcPr/>
                </a:tc>
              </a:tr>
              <a:tr h="502920">
                <a:tc>
                  <a:txBody>
                    <a:bodyPr/>
                    <a:lstStyle/>
                    <a:p>
                      <a:r>
                        <a:rPr sz="1000"/>
                        <a:t>Dashboard + app + Genie</a:t>
                      </a:r>
                    </a:p>
                  </a:txBody>
                  <a:tcPr/>
                </a:tc>
                <a:tc>
                  <a:txBody>
                    <a:bodyPr/>
                    <a:lstStyle/>
                    <a:p>
                      <a:r>
                        <a:rPr sz="1000"/>
                        <a:t>Right experience per persona</a:t>
                      </a:r>
                    </a:p>
                  </a:txBody>
                  <a:tcPr/>
                </a:tc>
                <a:tc>
                  <a:txBody>
                    <a:bodyPr/>
                    <a:lstStyle/>
                    <a:p>
                      <a:r>
                        <a:rPr sz="1000"/>
                        <a:t>Cross-surface state must stay aligned</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RECOMMENDED NEXT STEP · CLOSE 2 OF 4</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Start with two controls and prove the economics</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Proposed first-value sprint: 2–4 weeks.</a:t>
            </a:r>
          </a:p>
        </p:txBody>
      </p:sp>
      <p:sp>
        <p:nvSpPr>
          <p:cNvPr id="6" name="Rounded Rectangle 5"/>
          <p:cNvSpPr/>
          <p:nvPr/>
        </p:nvSpPr>
        <p:spPr>
          <a:xfrm>
            <a:off x="685800" y="2011680"/>
            <a:ext cx="5212080" cy="40233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Sprint plan</a:t>
            </a:r>
          </a:p>
          <a:p>
            <a:pPr>
              <a:spcBef>
                <a:spcPts val="300"/>
              </a:spcBef>
            </a:pPr>
            <a:r>
              <a:rPr sz="1300">
                <a:solidFill>
                  <a:srgbClr val="5C6663"/>
                </a:solidFill>
              </a:rPr>
              <a:t>1. Select two high-value reconciliations</a:t>
            </a:r>
          </a:p>
          <a:p>
            <a:pPr>
              <a:spcBef>
                <a:spcPts val="300"/>
              </a:spcBef>
            </a:pPr>
            <a:r>
              <a:rPr sz="1300">
                <a:solidFill>
                  <a:srgbClr val="5C6663"/>
                </a:solidFill>
              </a:rPr>
              <a:t>2. Connect read-only source data</a:t>
            </a:r>
          </a:p>
          <a:p>
            <a:pPr>
              <a:spcBef>
                <a:spcPts val="300"/>
              </a:spcBef>
            </a:pPr>
            <a:r>
              <a:rPr sz="1300">
                <a:solidFill>
                  <a:srgbClr val="5C6663"/>
                </a:solidFill>
              </a:rPr>
              <a:t>3. Validate identity and business definitions</a:t>
            </a:r>
          </a:p>
          <a:p>
            <a:pPr>
              <a:spcBef>
                <a:spcPts val="300"/>
              </a:spcBef>
            </a:pPr>
            <a:r>
              <a:rPr sz="1300">
                <a:solidFill>
                  <a:srgbClr val="5C6663"/>
                </a:solidFill>
              </a:rPr>
              <a:t>4. Quantify exposure and false-positive rate</a:t>
            </a:r>
          </a:p>
          <a:p>
            <a:pPr>
              <a:spcBef>
                <a:spcPts val="300"/>
              </a:spcBef>
            </a:pPr>
            <a:r>
              <a:rPr sz="1300">
                <a:solidFill>
                  <a:srgbClr val="5C6663"/>
                </a:solidFill>
              </a:rPr>
              <a:t>5. Put prioritized exceptions in front of owners</a:t>
            </a:r>
          </a:p>
          <a:p>
            <a:pPr>
              <a:spcBef>
                <a:spcPts val="300"/>
              </a:spcBef>
            </a:pPr>
            <a:r>
              <a:rPr sz="1300">
                <a:solidFill>
                  <a:srgbClr val="5C6663"/>
                </a:solidFill>
              </a:rPr>
              <a:t>6. Build the scale-out business case</a:t>
            </a:r>
          </a:p>
        </p:txBody>
      </p:sp>
      <p:sp>
        <p:nvSpPr>
          <p:cNvPr id="7" name="Rounded Rectangle 6"/>
          <p:cNvSpPr/>
          <p:nvPr/>
        </p:nvSpPr>
        <p:spPr>
          <a:xfrm>
            <a:off x="6080760" y="2011680"/>
            <a:ext cx="5394960" cy="18288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Recommended starting controls</a:t>
            </a:r>
          </a:p>
          <a:p>
            <a:pPr>
              <a:spcBef>
                <a:spcPts val="300"/>
              </a:spcBef>
            </a:pPr>
            <a:r>
              <a:rPr sz="1300">
                <a:solidFill>
                  <a:srgbClr val="5C6663"/>
                </a:solidFill>
              </a:rPr>
              <a:t>Contract price versus billed price</a:t>
            </a:r>
          </a:p>
          <a:p>
            <a:pPr>
              <a:spcBef>
                <a:spcPts val="300"/>
              </a:spcBef>
            </a:pPr>
            <a:r>
              <a:rPr sz="1300">
                <a:solidFill>
                  <a:srgbClr val="5C6663"/>
                </a:solidFill>
              </a:rPr>
              <a:t>Accounts-receivable aging and collection risk</a:t>
            </a:r>
          </a:p>
        </p:txBody>
      </p:sp>
      <p:sp>
        <p:nvSpPr>
          <p:cNvPr id="8" name="Rounded Rectangle 7"/>
          <p:cNvSpPr/>
          <p:nvPr/>
        </p:nvSpPr>
        <p:spPr>
          <a:xfrm>
            <a:off x="6080760" y="4023360"/>
            <a:ext cx="5394960" cy="201168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Success criteria</a:t>
            </a:r>
          </a:p>
          <a:p>
            <a:pPr>
              <a:spcBef>
                <a:spcPts val="300"/>
              </a:spcBef>
            </a:pPr>
            <a:r>
              <a:rPr sz="1300">
                <a:solidFill>
                  <a:srgbClr val="5C6663"/>
                </a:solidFill>
              </a:rPr>
              <a:t>Defensible dollars identified</a:t>
            </a:r>
          </a:p>
          <a:p>
            <a:pPr>
              <a:spcBef>
                <a:spcPts val="300"/>
              </a:spcBef>
            </a:pPr>
            <a:r>
              <a:rPr sz="1300">
                <a:solidFill>
                  <a:srgbClr val="5C6663"/>
                </a:solidFill>
              </a:rPr>
              <a:t>Evidence traceable to source</a:t>
            </a:r>
          </a:p>
          <a:p>
            <a:pPr>
              <a:spcBef>
                <a:spcPts val="300"/>
              </a:spcBef>
            </a:pPr>
            <a:r>
              <a:rPr sz="1300">
                <a:solidFill>
                  <a:srgbClr val="5C6663"/>
                </a:solidFill>
              </a:rPr>
              <a:t>Named operational owners</a:t>
            </a:r>
          </a:p>
          <a:p>
            <a:pPr>
              <a:spcBef>
                <a:spcPts val="300"/>
              </a:spcBef>
            </a:pPr>
            <a:r>
              <a:rPr sz="1300">
                <a:solidFill>
                  <a:srgbClr val="5C6663"/>
                </a:solidFill>
              </a:rPr>
              <a:t>Agreed roadmap based on measured value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VALUE STORY · CLOSE 3 OF 4</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Quantify → Prioritize → Prove → Recover → Prevent</a:t>
            </a:r>
          </a:p>
        </p:txBody>
      </p:sp>
      <p:sp>
        <p:nvSpPr>
          <p:cNvPr id="5" name="Rounded Rectangle 4"/>
          <p:cNvSpPr/>
          <p:nvPr/>
        </p:nvSpPr>
        <p:spPr>
          <a:xfrm>
            <a:off x="685800" y="1554480"/>
            <a:ext cx="3429000" cy="10515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1 · Quantify</a:t>
            </a:r>
          </a:p>
          <a:p>
            <a:pPr>
              <a:spcBef>
                <a:spcPts val="300"/>
              </a:spcBef>
            </a:pPr>
            <a:r>
              <a:rPr sz="1100">
                <a:solidFill>
                  <a:srgbClr val="5C6663"/>
                </a:solidFill>
              </a:rPr>
              <a:t>A governed leakage register replaces competing spreadsheets</a:t>
            </a:r>
          </a:p>
        </p:txBody>
      </p:sp>
      <p:sp>
        <p:nvSpPr>
          <p:cNvPr id="6" name="Rounded Rectangle 5"/>
          <p:cNvSpPr/>
          <p:nvPr/>
        </p:nvSpPr>
        <p:spPr>
          <a:xfrm>
            <a:off x="4251960" y="1554480"/>
            <a:ext cx="3429000" cy="10515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2 · Prioritize</a:t>
            </a:r>
          </a:p>
          <a:p>
            <a:pPr>
              <a:spcBef>
                <a:spcPts val="300"/>
              </a:spcBef>
            </a:pPr>
            <a:r>
              <a:rPr sz="1100">
                <a:solidFill>
                  <a:srgbClr val="5C6663"/>
                </a:solidFill>
              </a:rPr>
              <a:t>Risk, amount, cause, and customer concentrate recovery effort</a:t>
            </a:r>
          </a:p>
        </p:txBody>
      </p:sp>
      <p:sp>
        <p:nvSpPr>
          <p:cNvPr id="7" name="Rounded Rectangle 6"/>
          <p:cNvSpPr/>
          <p:nvPr/>
        </p:nvSpPr>
        <p:spPr>
          <a:xfrm>
            <a:off x="7818120" y="1554480"/>
            <a:ext cx="3429000" cy="10515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3 · Prove</a:t>
            </a:r>
          </a:p>
          <a:p>
            <a:pPr>
              <a:spcBef>
                <a:spcPts val="300"/>
              </a:spcBef>
            </a:pPr>
            <a:r>
              <a:rPr sz="1100">
                <a:solidFill>
                  <a:srgbClr val="5C6663"/>
                </a:solidFill>
              </a:rPr>
              <a:t>Source evidence, detection method, and lineage accelerate trust</a:t>
            </a:r>
          </a:p>
        </p:txBody>
      </p:sp>
      <p:sp>
        <p:nvSpPr>
          <p:cNvPr id="8" name="Rounded Rectangle 7"/>
          <p:cNvSpPr/>
          <p:nvPr/>
        </p:nvSpPr>
        <p:spPr>
          <a:xfrm>
            <a:off x="685800" y="2743200"/>
            <a:ext cx="3429000" cy="10515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4 · Recover</a:t>
            </a:r>
          </a:p>
          <a:p>
            <a:pPr>
              <a:spcBef>
                <a:spcPts val="300"/>
              </a:spcBef>
            </a:pPr>
            <a:r>
              <a:rPr sz="1100">
                <a:solidFill>
                  <a:srgbClr val="5C6663"/>
                </a:solidFill>
              </a:rPr>
              <a:t>Ownership, notes, and lifecycle convert exposure into action</a:t>
            </a:r>
          </a:p>
        </p:txBody>
      </p:sp>
      <p:sp>
        <p:nvSpPr>
          <p:cNvPr id="9" name="Rounded Rectangle 8"/>
          <p:cNvSpPr/>
          <p:nvPr/>
        </p:nvSpPr>
        <p:spPr>
          <a:xfrm>
            <a:off x="4251960" y="2743200"/>
            <a:ext cx="3429000" cy="10515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5 · Prevent</a:t>
            </a:r>
          </a:p>
          <a:p>
            <a:pPr>
              <a:spcBef>
                <a:spcPts val="300"/>
              </a:spcBef>
            </a:pPr>
            <a:r>
              <a:rPr sz="1100">
                <a:solidFill>
                  <a:srgbClr val="5C6663"/>
                </a:solidFill>
              </a:rPr>
              <a:t>Repeatable controls catch recurrence before quarter close</a:t>
            </a:r>
          </a:p>
        </p:txBody>
      </p:sp>
      <p:sp>
        <p:nvSpPr>
          <p:cNvPr id="10" name="Rounded Rectangle 9"/>
          <p:cNvSpPr/>
          <p:nvPr/>
        </p:nvSpPr>
        <p:spPr>
          <a:xfrm>
            <a:off x="685800" y="3840480"/>
            <a:ext cx="5120640" cy="8229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2200">
                <a:solidFill>
                  <a:srgbClr val="9C2B2B"/>
                </a:solidFill>
              </a:rPr>
              <a:t>$250M–$312M</a:t>
            </a:r>
          </a:p>
          <a:p>
            <a:pPr>
              <a:spcBef>
                <a:spcPts val="300"/>
              </a:spcBef>
            </a:pPr>
            <a:r>
              <a:rPr sz="1000">
                <a:solidFill>
                  <a:srgbClr val="5C6663"/>
                </a:solidFill>
              </a:rPr>
              <a:t>Illustrative annual gross leakage exposure at Lumen scale</a:t>
            </a:r>
          </a:p>
        </p:txBody>
      </p:sp>
      <p:sp>
        <p:nvSpPr>
          <p:cNvPr id="11" name="Rounded Rectangle 10"/>
          <p:cNvSpPr/>
          <p:nvPr/>
        </p:nvSpPr>
        <p:spPr>
          <a:xfrm>
            <a:off x="5989320" y="3840480"/>
            <a:ext cx="5486400" cy="8229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2200">
                <a:solidFill>
                  <a:srgbClr val="0A6E6E"/>
                </a:solidFill>
              </a:rPr>
              <a:t>$125M–$220M</a:t>
            </a:r>
          </a:p>
          <a:p>
            <a:pPr>
              <a:spcBef>
                <a:spcPts val="300"/>
              </a:spcBef>
            </a:pPr>
            <a:r>
              <a:rPr sz="1000">
                <a:solidFill>
                  <a:srgbClr val="5C6663"/>
                </a:solidFill>
              </a:rPr>
              <a:t>Defensible planning range: recovered + prevented over 12–24 months</a:t>
            </a:r>
          </a:p>
        </p:txBody>
      </p:sp>
      <p:sp>
        <p:nvSpPr>
          <p:cNvPr id="12" name="TextBox 11"/>
          <p:cNvSpPr txBox="1"/>
          <p:nvPr/>
        </p:nvSpPr>
        <p:spPr>
          <a:xfrm>
            <a:off x="685800" y="4846320"/>
            <a:ext cx="10561320" cy="548640"/>
          </a:xfrm>
          <a:prstGeom prst="rect">
            <a:avLst/>
          </a:prstGeom>
          <a:noFill/>
        </p:spPr>
        <p:txBody>
          <a:bodyPr wrap="square">
            <a:spAutoFit/>
          </a:bodyPr>
          <a:lstStyle/>
          <a:p>
            <a:pPr algn="l">
              <a:lnSpc>
                <a:spcPct val="115000"/>
              </a:lnSpc>
            </a:pPr>
            <a:r>
              <a:rPr sz="1300" b="0" i="1">
                <a:solidFill>
                  <a:srgbClr val="5C6663"/>
                </a:solidFill>
                <a:latin typeface="Calibri"/>
              </a:rPr>
              <a:t>Dana, does that create a sufficiently clear economic test for sponsorship? Priya, are the evidence, governance, and integration boundaries strong enough to earn a read-only technical discovery?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APPENDIX A · OBJECTION HANDLING</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Executive objections</a:t>
            </a:r>
          </a:p>
        </p:txBody>
      </p:sp>
      <p:sp>
        <p:nvSpPr>
          <p:cNvPr id="5" name="Rounded Rectangle 4"/>
          <p:cNvSpPr/>
          <p:nvPr/>
        </p:nvSpPr>
        <p:spPr>
          <a:xfrm>
            <a:off x="685800" y="15544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"How do I know the value is real?"</a:t>
            </a:r>
          </a:p>
          <a:p>
            <a:pPr>
              <a:spcBef>
                <a:spcPts val="300"/>
              </a:spcBef>
            </a:pPr>
            <a:r>
              <a:rPr sz="1000">
                <a:solidFill>
                  <a:srgbClr val="5C6663"/>
                </a:solidFill>
              </a:rPr>
              <a:t>Exec: figures are explicitly illustrative; the decision gate is the first two controls on your data. Technical bridge: every measured exception retains a source reference and named control.</a:t>
            </a:r>
          </a:p>
        </p:txBody>
      </p:sp>
      <p:sp>
        <p:nvSpPr>
          <p:cNvPr id="6" name="Rounded Rectangle 5"/>
          <p:cNvSpPr/>
          <p:nvPr/>
        </p:nvSpPr>
        <p:spPr>
          <a:xfrm>
            <a:off x="6080760" y="15544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"This sounds expensive."</a:t>
            </a:r>
          </a:p>
          <a:p>
            <a:pPr>
              <a:spcBef>
                <a:spcPts val="300"/>
              </a:spcBef>
            </a:pPr>
            <a:r>
              <a:rPr sz="1000">
                <a:solidFill>
                  <a:srgbClr val="5C6663"/>
                </a:solidFill>
              </a:rPr>
              <a:t>Exec: reuses existing data estate, starts with two controls, bounded first investment. Technical bridge: serverless resources, SQL-first controls, one deployable repository.</a:t>
            </a:r>
          </a:p>
        </p:txBody>
      </p:sp>
      <p:sp>
        <p:nvSpPr>
          <p:cNvPr id="7" name="Rounded Rectangle 6"/>
          <p:cNvSpPr/>
          <p:nvPr/>
        </p:nvSpPr>
        <p:spPr>
          <a:xfrm>
            <a:off x="685800" y="29260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"How quickly do we see value?"</a:t>
            </a:r>
          </a:p>
          <a:p>
            <a:pPr>
              <a:spcBef>
                <a:spcPts val="300"/>
              </a:spcBef>
            </a:pPr>
            <a:r>
              <a:rPr sz="1000">
                <a:solidFill>
                  <a:srgbClr val="5C6663"/>
                </a:solidFill>
              </a:rPr>
              <a:t>A quantified first-value result in two to four weeks, not a full production transformation.</a:t>
            </a:r>
          </a:p>
        </p:txBody>
      </p:sp>
      <p:sp>
        <p:nvSpPr>
          <p:cNvPr id="8" name="Rounded Rectangle 7"/>
          <p:cNvSpPr/>
          <p:nvPr/>
        </p:nvSpPr>
        <p:spPr>
          <a:xfrm>
            <a:off x="6080760" y="29260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"What if recovery is much lower than the headline?"</a:t>
            </a:r>
          </a:p>
          <a:p>
            <a:pPr>
              <a:spcBef>
                <a:spcPts val="300"/>
              </a:spcBef>
            </a:pPr>
            <a:r>
              <a:rPr sz="1000">
                <a:solidFill>
                  <a:srgbClr val="5C6663"/>
                </a:solidFill>
              </a:rPr>
              <a:t>We assume it will be lower. Gross exposure and recoverable value are different metrics — aged claims, disputes, churn reduce backward recovery.</a:t>
            </a:r>
          </a:p>
        </p:txBody>
      </p:sp>
      <p:sp>
        <p:nvSpPr>
          <p:cNvPr id="9" name="Rounded Rectangle 8"/>
          <p:cNvSpPr/>
          <p:nvPr/>
        </p:nvSpPr>
        <p:spPr>
          <a:xfrm>
            <a:off x="685800" y="4297680"/>
            <a:ext cx="1056132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200">
                <a:solidFill>
                  <a:srgbClr val="1C2321"/>
                </a:solidFill>
              </a:rPr>
              <a:t>"Why Databricks rather than another point solution?"</a:t>
            </a:r>
          </a:p>
          <a:p>
            <a:pPr>
              <a:spcBef>
                <a:spcPts val="300"/>
              </a:spcBef>
            </a:pPr>
            <a:r>
              <a:rPr sz="1000">
                <a:solidFill>
                  <a:srgbClr val="5C6663"/>
                </a:solidFill>
              </a:rPr>
              <a:t>The leakage already spans the customer's governed data estate; this brings controls, AI, analytics, lineage, and the app to shared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APPENDIX B · OBJECTION HANDLING</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Technical objections</a:t>
            </a:r>
          </a:p>
        </p:txBody>
      </p:sp>
      <p:sp>
        <p:nvSpPr>
          <p:cNvPr id="5" name="Rounded Rectangle 4"/>
          <p:cNvSpPr/>
          <p:nvPr/>
        </p:nvSpPr>
        <p:spPr>
          <a:xfrm>
            <a:off x="685800" y="15544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100">
                <a:solidFill>
                  <a:srgbClr val="1C2321"/>
                </a:solidFill>
              </a:rPr>
              <a:t>"How do identities resolve across systems?"</a:t>
            </a:r>
          </a:p>
          <a:p>
            <a:pPr>
              <a:spcBef>
                <a:spcPts val="300"/>
              </a:spcBef>
            </a:pPr>
            <a:r>
              <a:rPr sz="1000">
                <a:solidFill>
                  <a:srgbClr val="5C6663"/>
                </a:solidFill>
              </a:rPr>
              <a:t>Explicit joins from source keys to golden TM Forum identities; a production roadmap should standardize mappings as complexity grows.</a:t>
            </a:r>
          </a:p>
        </p:txBody>
      </p:sp>
      <p:sp>
        <p:nvSpPr>
          <p:cNvPr id="6" name="Rounded Rectangle 5"/>
          <p:cNvSpPr/>
          <p:nvPr/>
        </p:nvSpPr>
        <p:spPr>
          <a:xfrm>
            <a:off x="6080760" y="15544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100">
                <a:solidFill>
                  <a:srgbClr val="1C2321"/>
                </a:solidFill>
              </a:rPr>
              <a:t>"How do you prevent false positives?"</a:t>
            </a:r>
          </a:p>
          <a:p>
            <a:pPr>
              <a:spcBef>
                <a:spcPts val="300"/>
              </a:spcBef>
            </a:pPr>
            <a:r>
              <a:rPr sz="1000">
                <a:solidFill>
                  <a:srgbClr val="5C6663"/>
                </a:solidFill>
              </a:rPr>
              <a:t>Named/testable controls, non-negative amounts, constrained enumerations, flagged unparseable docs, deterministic seeded coverage.</a:t>
            </a:r>
          </a:p>
        </p:txBody>
      </p:sp>
      <p:sp>
        <p:nvSpPr>
          <p:cNvPr id="7" name="Rounded Rectangle 6"/>
          <p:cNvSpPr/>
          <p:nvPr/>
        </p:nvSpPr>
        <p:spPr>
          <a:xfrm>
            <a:off x="685800" y="29260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100">
                <a:solidFill>
                  <a:srgbClr val="1C2321"/>
                </a:solidFill>
              </a:rPr>
              <a:t>"Where is PII protected?"</a:t>
            </a:r>
          </a:p>
          <a:p>
            <a:pPr>
              <a:spcBef>
                <a:spcPts val="300"/>
              </a:spcBef>
            </a:pPr>
            <a:r>
              <a:rPr sz="1000">
                <a:solidFill>
                  <a:srgbClr val="5C6663"/>
                </a:solidFill>
              </a:rPr>
              <a:t>Unity Catalog is the governance boundary with least-privilege grants and masking; deployed masking must be verified in target env.</a:t>
            </a:r>
          </a:p>
        </p:txBody>
      </p:sp>
      <p:sp>
        <p:nvSpPr>
          <p:cNvPr id="8" name="Rounded Rectangle 7"/>
          <p:cNvSpPr/>
          <p:nvPr/>
        </p:nvSpPr>
        <p:spPr>
          <a:xfrm>
            <a:off x="6080760" y="29260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100">
                <a:solidFill>
                  <a:srgbClr val="1C2321"/>
                </a:solidFill>
              </a:rPr>
              <a:t>"Why Lakebase instead of Delta for cases?"</a:t>
            </a:r>
          </a:p>
          <a:p>
            <a:pPr>
              <a:spcBef>
                <a:spcPts val="300"/>
              </a:spcBef>
            </a:pPr>
            <a:r>
              <a:rPr sz="1000">
                <a:solidFill>
                  <a:srgbClr val="5C6663"/>
                </a:solidFill>
              </a:rPr>
              <a:t>Cases need frequent row-level updates and low-latency transactions; trade-off is a sync pattern needed for metric views.</a:t>
            </a:r>
          </a:p>
        </p:txBody>
      </p:sp>
      <p:sp>
        <p:nvSpPr>
          <p:cNvPr id="9" name="Rounded Rectangle 8"/>
          <p:cNvSpPr/>
          <p:nvPr/>
        </p:nvSpPr>
        <p:spPr>
          <a:xfrm>
            <a:off x="685800" y="42976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100">
                <a:solidFill>
                  <a:srgbClr val="1C2321"/>
                </a:solidFill>
              </a:rPr>
              <a:t>"Is this streaming?"</a:t>
            </a:r>
          </a:p>
          <a:p>
            <a:pPr>
              <a:spcBef>
                <a:spcPts val="300"/>
              </a:spcBef>
            </a:pPr>
            <a:r>
              <a:rPr sz="1000">
                <a:solidFill>
                  <a:srgbClr val="5C6663"/>
                </a:solidFill>
              </a:rPr>
              <a:t>Batch-first for deterministic, auditable reconciliation; streaming is a production extension where latency justifies it.</a:t>
            </a:r>
          </a:p>
        </p:txBody>
      </p:sp>
      <p:sp>
        <p:nvSpPr>
          <p:cNvPr id="10" name="Rounded Rectangle 9"/>
          <p:cNvSpPr/>
          <p:nvPr/>
        </p:nvSpPr>
        <p:spPr>
          <a:xfrm>
            <a:off x="6080760" y="4297680"/>
            <a:ext cx="5212080" cy="12344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100">
                <a:solidFill>
                  <a:srgbClr val="1C2321"/>
                </a:solidFill>
              </a:rPr>
              <a:t>"Does Genie have unrestricted data access?"</a:t>
            </a:r>
          </a:p>
          <a:p>
            <a:pPr>
              <a:spcBef>
                <a:spcPts val="300"/>
              </a:spcBef>
            </a:pPr>
            <a:r>
              <a:rPr sz="1000">
                <a:solidFill>
                  <a:srgbClr val="5C6663"/>
                </a:solidFill>
              </a:rPr>
              <a:t>No — the standalone Genie space queries governed UC data and inherits its access controls.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APPENDIX C · SCOPE HONESTY</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Implemented versus roadmap</a:t>
            </a:r>
          </a:p>
        </p:txBody>
      </p:sp>
      <p:sp>
        <p:nvSpPr>
          <p:cNvPr id="5" name="Rounded Rectangle 4"/>
          <p:cNvSpPr/>
          <p:nvPr/>
        </p:nvSpPr>
        <p:spPr>
          <a:xfrm>
            <a:off x="685800" y="1554480"/>
            <a:ext cx="5212080" cy="41148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0A6E6E"/>
                </a:solidFill>
              </a:rPr>
              <a:t>Implemented — safe to demonstrate</a:t>
            </a:r>
          </a:p>
          <a:p>
            <a:pPr>
              <a:spcBef>
                <a:spcPts val="300"/>
              </a:spcBef>
            </a:pPr>
            <a:r>
              <a:rPr sz="1100">
                <a:solidFill>
                  <a:srgbClr val="5C6663"/>
                </a:solidFill>
              </a:rPr>
              <a:t>Existing TM Forum catalog reuse</a:t>
            </a:r>
          </a:p>
          <a:p>
            <a:pPr>
              <a:spcBef>
                <a:spcPts val="300"/>
              </a:spcBef>
            </a:pPr>
            <a:r>
              <a:rPr sz="1100">
                <a:solidFill>
                  <a:srgbClr val="5C6663"/>
                </a:solidFill>
              </a:rPr>
              <a:t>Simulated Salesforce, Oracle, Refinitiv, Ironclad, MDM sources</a:t>
            </a:r>
          </a:p>
          <a:p>
            <a:pPr>
              <a:spcBef>
                <a:spcPts val="300"/>
              </a:spcBef>
            </a:pPr>
            <a:r>
              <a:rPr sz="1100">
                <a:solidFill>
                  <a:srgbClr val="5C6663"/>
                </a:solidFill>
              </a:rPr>
              <a:t>Seven reconciliation control surfaces</a:t>
            </a:r>
          </a:p>
          <a:p>
            <a:pPr>
              <a:spcBef>
                <a:spcPts val="300"/>
              </a:spcBef>
            </a:pPr>
            <a:r>
              <a:rPr sz="1100">
                <a:solidFill>
                  <a:srgbClr val="5C6663"/>
                </a:solidFill>
              </a:rPr>
              <a:t>Unified gold leakage register</a:t>
            </a:r>
          </a:p>
          <a:p>
            <a:pPr>
              <a:spcBef>
                <a:spcPts val="300"/>
              </a:spcBef>
            </a:pPr>
            <a:r>
              <a:rPr sz="1100">
                <a:solidFill>
                  <a:srgbClr val="5C6663"/>
                </a:solidFill>
              </a:rPr>
              <a:t>Reconciliation scorecard</a:t>
            </a:r>
          </a:p>
          <a:p>
            <a:pPr>
              <a:spcBef>
                <a:spcPts val="300"/>
              </a:spcBef>
            </a:pPr>
            <a:r>
              <a:rPr sz="1100">
                <a:solidFill>
                  <a:srgbClr val="5C6663"/>
                </a:solidFill>
              </a:rPr>
              <a:t>Document-intelligence checks</a:t>
            </a:r>
          </a:p>
          <a:p>
            <a:pPr>
              <a:spcBef>
                <a:spcPts val="300"/>
              </a:spcBef>
            </a:pPr>
            <a:r>
              <a:rPr sz="1100">
                <a:solidFill>
                  <a:srgbClr val="5C6663"/>
                </a:solidFill>
              </a:rPr>
              <a:t>Forecast anomaly surface</a:t>
            </a:r>
          </a:p>
          <a:p>
            <a:pPr>
              <a:spcBef>
                <a:spcPts val="300"/>
              </a:spcBef>
            </a:pPr>
            <a:r>
              <a:rPr sz="1100">
                <a:solidFill>
                  <a:srgbClr val="5C6663"/>
                </a:solidFill>
              </a:rPr>
              <a:t>Executive AI/BI dashboard</a:t>
            </a:r>
          </a:p>
          <a:p>
            <a:pPr>
              <a:spcBef>
                <a:spcPts val="300"/>
              </a:spcBef>
            </a:pPr>
            <a:r>
              <a:rPr sz="1100">
                <a:solidFill>
                  <a:srgbClr val="5C6663"/>
                </a:solidFill>
              </a:rPr>
              <a:t>Standalone Genie space</a:t>
            </a:r>
          </a:p>
          <a:p>
            <a:pPr>
              <a:spcBef>
                <a:spcPts val="300"/>
              </a:spcBef>
            </a:pPr>
            <a:r>
              <a:rPr sz="1100">
                <a:solidFill>
                  <a:srgbClr val="5C6663"/>
                </a:solidFill>
              </a:rPr>
              <a:t>RA Exceptions Console</a:t>
            </a:r>
          </a:p>
          <a:p>
            <a:pPr>
              <a:spcBef>
                <a:spcPts val="300"/>
              </a:spcBef>
            </a:pPr>
            <a:r>
              <a:rPr sz="1100">
                <a:solidFill>
                  <a:srgbClr val="5C6663"/>
                </a:solidFill>
              </a:rPr>
              <a:t>Lakebase cases and notes</a:t>
            </a:r>
          </a:p>
          <a:p>
            <a:pPr>
              <a:spcBef>
                <a:spcPts val="300"/>
              </a:spcBef>
            </a:pPr>
            <a:r>
              <a:rPr sz="1100">
                <a:solidFill>
                  <a:srgbClr val="5C6663"/>
                </a:solidFill>
              </a:rPr>
              <a:t>Architecture links and bundle deployment contract</a:t>
            </a:r>
          </a:p>
        </p:txBody>
      </p:sp>
      <p:sp>
        <p:nvSpPr>
          <p:cNvPr id="6" name="Rounded Rectangle 5"/>
          <p:cNvSpPr/>
          <p:nvPr/>
        </p:nvSpPr>
        <p:spPr>
          <a:xfrm>
            <a:off x="6080760" y="1554480"/>
            <a:ext cx="5394960" cy="411480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9AA19E"/>
                </a:solidFill>
              </a:rPr>
              <a:t>Roadmap — design-only</a:t>
            </a:r>
          </a:p>
          <a:p>
            <a:pPr>
              <a:spcBef>
                <a:spcPts val="300"/>
              </a:spcBef>
            </a:pPr>
            <a:r>
              <a:rPr sz="1100">
                <a:solidFill>
                  <a:srgbClr val="5C6663"/>
                </a:solidFill>
              </a:rPr>
              <a:t>Live production connectors and continuous ingestion</a:t>
            </a:r>
          </a:p>
          <a:p>
            <a:pPr>
              <a:spcBef>
                <a:spcPts val="300"/>
              </a:spcBef>
            </a:pPr>
            <a:r>
              <a:rPr sz="1100">
                <a:solidFill>
                  <a:srgbClr val="5C6663"/>
                </a:solidFill>
              </a:rPr>
              <a:t>Embedded Genie side panel</a:t>
            </a:r>
          </a:p>
          <a:p>
            <a:pPr>
              <a:spcBef>
                <a:spcPts val="300"/>
              </a:spcBef>
            </a:pPr>
            <a:r>
              <a:rPr sz="1100">
                <a:solidFill>
                  <a:srgbClr val="5C6663"/>
                </a:solidFill>
              </a:rPr>
              <a:t>Deployed Unity Catalog metric views</a:t>
            </a:r>
          </a:p>
          <a:p>
            <a:pPr>
              <a:spcBef>
                <a:spcPts val="300"/>
              </a:spcBef>
            </a:pPr>
            <a:r>
              <a:rPr sz="1100">
                <a:solidFill>
                  <a:srgbClr val="5C6663"/>
                </a:solidFill>
              </a:rPr>
              <a:t>Deployed business Domains, governed tags, glossary Pages</a:t>
            </a:r>
          </a:p>
          <a:p>
            <a:pPr>
              <a:spcBef>
                <a:spcPts val="300"/>
              </a:spcBef>
            </a:pPr>
            <a:r>
              <a:rPr sz="1100">
                <a:solidFill>
                  <a:srgbClr val="5C6663"/>
                </a:solidFill>
              </a:rPr>
              <a:t>Lakebase-to-Delta sync for recovery-rate KPIs</a:t>
            </a:r>
          </a:p>
          <a:p>
            <a:pPr>
              <a:spcBef>
                <a:spcPts val="300"/>
              </a:spcBef>
            </a:pPr>
            <a:r>
              <a:rPr sz="1100">
                <a:solidFill>
                  <a:srgbClr val="5C6663"/>
                </a:solidFill>
              </a:rPr>
              <a:t>Automated CRM, billing, or collections write-back</a:t>
            </a:r>
          </a:p>
          <a:p>
            <a:pPr>
              <a:spcBef>
                <a:spcPts val="300"/>
              </a:spcBef>
            </a:pPr>
            <a:r>
              <a:rPr sz="1100">
                <a:solidFill>
                  <a:srgbClr val="5C6663"/>
                </a:solidFill>
              </a:rPr>
              <a:t>Multi-tenancy, disaster recovery, production SSO design</a:t>
            </a:r>
          </a:p>
          <a:p>
            <a:pPr>
              <a:spcBef>
                <a:spcPts val="300"/>
              </a:spcBef>
            </a:pPr>
            <a:r>
              <a:rPr sz="1100">
                <a:solidFill>
                  <a:srgbClr val="5C6663"/>
                </a:solidFill>
              </a:rPr>
              <a:t>Proven production ML accuracy on organic distributions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APPENDIX D · HOW THIS WAS BUILT</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AI as a force multiplier</a:t>
            </a:r>
          </a:p>
        </p:txBody>
      </p:sp>
      <p:sp>
        <p:nvSpPr>
          <p:cNvPr id="5" name="TextBox 4"/>
          <p:cNvSpPr txBox="1"/>
          <p:nvPr/>
        </p:nvSpPr>
        <p:spPr>
          <a:xfrm>
            <a:off x="685800" y="1554480"/>
            <a:ext cx="10789920" cy="457200"/>
          </a:xfrm>
          <a:prstGeom prst="rect">
            <a:avLst/>
          </a:prstGeom>
          <a:noFill/>
        </p:spPr>
        <p:txBody>
          <a:bodyPr wrap="square">
            <a:spAutoFit/>
          </a:bodyPr>
          <a:lstStyle/>
          <a:p>
            <a:pPr algn="l">
              <a:lnSpc>
                <a:spcPct val="115000"/>
              </a:lnSpc>
            </a:pPr>
            <a:r>
              <a:rPr sz="1400" b="0" i="0">
                <a:solidFill>
                  <a:srgbClr val="5C6663"/>
                </a:solidFill>
                <a:latin typeface="Calibri"/>
              </a:rPr>
              <a:t>How AI accelerated the build without replacing engineering controls.</a:t>
            </a:r>
          </a:p>
        </p:txBody>
      </p:sp>
      <p:sp>
        <p:nvSpPr>
          <p:cNvPr id="6" name="Rounded Rectangle 5"/>
          <p:cNvSpPr/>
          <p:nvPr/>
        </p:nvSpPr>
        <p:spPr>
          <a:xfrm>
            <a:off x="685800" y="2011680"/>
            <a:ext cx="5212080" cy="31089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AI accelerated</a:t>
            </a:r>
          </a:p>
          <a:p>
            <a:pPr>
              <a:spcBef>
                <a:spcPts val="300"/>
              </a:spcBef>
            </a:pPr>
            <a:r>
              <a:rPr sz="1200">
                <a:solidFill>
                  <a:srgbClr val="5C6663"/>
                </a:solidFill>
              </a:rPr>
              <a:t>Repository-wide requirements synthesis</a:t>
            </a:r>
          </a:p>
          <a:p>
            <a:pPr>
              <a:spcBef>
                <a:spcPts val="300"/>
              </a:spcBef>
            </a:pPr>
            <a:r>
              <a:rPr sz="1200">
                <a:solidFill>
                  <a:srgbClr val="5C6663"/>
                </a:solidFill>
              </a:rPr>
              <a:t>UX and accessibility audit</a:t>
            </a:r>
          </a:p>
          <a:p>
            <a:pPr>
              <a:spcBef>
                <a:spcPts val="300"/>
              </a:spcBef>
            </a:pPr>
            <a:r>
              <a:rPr sz="1200">
                <a:solidFill>
                  <a:srgbClr val="5C6663"/>
                </a:solidFill>
              </a:rPr>
              <a:t>Parallel implementation planning</a:t>
            </a:r>
          </a:p>
          <a:p>
            <a:pPr>
              <a:spcBef>
                <a:spcPts val="300"/>
              </a:spcBef>
            </a:pPr>
            <a:r>
              <a:rPr sz="1200">
                <a:solidFill>
                  <a:srgbClr val="5C6663"/>
                </a:solidFill>
              </a:rPr>
              <a:t>Test generation and configuration review</a:t>
            </a:r>
          </a:p>
          <a:p>
            <a:pPr>
              <a:spcBef>
                <a:spcPts val="300"/>
              </a:spcBef>
            </a:pPr>
            <a:r>
              <a:rPr sz="1200">
                <a:solidFill>
                  <a:srgbClr val="5C6663"/>
                </a:solidFill>
              </a:rPr>
              <a:t>Independent cross-vendor code review</a:t>
            </a:r>
          </a:p>
          <a:p>
            <a:pPr>
              <a:spcBef>
                <a:spcPts val="300"/>
              </a:spcBef>
            </a:pPr>
            <a:r>
              <a:rPr sz="1200">
                <a:solidFill>
                  <a:srgbClr val="5C6663"/>
                </a:solidFill>
              </a:rPr>
              <a:t>Customer-story and objection rehearsal</a:t>
            </a:r>
          </a:p>
        </p:txBody>
      </p:sp>
      <p:sp>
        <p:nvSpPr>
          <p:cNvPr id="7" name="Rounded Rectangle 6"/>
          <p:cNvSpPr/>
          <p:nvPr/>
        </p:nvSpPr>
        <p:spPr>
          <a:xfrm>
            <a:off x="6080760" y="2011680"/>
            <a:ext cx="5394960" cy="310896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Controls retained</a:t>
            </a:r>
          </a:p>
          <a:p>
            <a:pPr>
              <a:spcBef>
                <a:spcPts val="300"/>
              </a:spcBef>
            </a:pPr>
            <a:r>
              <a:rPr sz="1200">
                <a:solidFill>
                  <a:srgbClr val="5C6663"/>
                </a:solidFill>
              </a:rPr>
              <a:t>Human-defined acceptance contract</a:t>
            </a:r>
          </a:p>
          <a:p>
            <a:pPr>
              <a:spcBef>
                <a:spcPts val="300"/>
              </a:spcBef>
            </a:pPr>
            <a:r>
              <a:rPr sz="1200">
                <a:solidFill>
                  <a:srgbClr val="5C6663"/>
                </a:solidFill>
              </a:rPr>
              <a:t>Deterministic typecheck, lint, and server-build gates</a:t>
            </a:r>
          </a:p>
          <a:p>
            <a:pPr>
              <a:spcBef>
                <a:spcPts val="300"/>
              </a:spcBef>
            </a:pPr>
            <a:r>
              <a:rPr sz="1200">
                <a:solidFill>
                  <a:srgbClr val="5C6663"/>
                </a:solidFill>
              </a:rPr>
              <a:t>Independent reviewer separated from implementer</a:t>
            </a:r>
          </a:p>
          <a:p>
            <a:pPr>
              <a:spcBef>
                <a:spcPts val="300"/>
              </a:spcBef>
            </a:pPr>
            <a:r>
              <a:rPr sz="1200">
                <a:solidFill>
                  <a:srgbClr val="5C6663"/>
                </a:solidFill>
              </a:rPr>
              <a:t>Documented environment limitations</a:t>
            </a:r>
          </a:p>
          <a:p>
            <a:pPr>
              <a:spcBef>
                <a:spcPts val="300"/>
              </a:spcBef>
            </a:pPr>
            <a:r>
              <a:rPr sz="1200">
                <a:solidFill>
                  <a:srgbClr val="5C6663"/>
                </a:solidFill>
              </a:rPr>
              <a:t>Explicit distinction between implemented and aspirational capabilities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APPENDIX E · TIMING CARD</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24 minutes prepared + 6 minutes Q&amp;A</a:t>
            </a:r>
          </a:p>
        </p:txBody>
      </p:sp>
      <p:graphicFrame>
        <p:nvGraphicFramePr>
          <p:cNvPr id="5" name="Table 4"/>
          <p:cNvGraphicFramePr>
            <a:graphicFrameLocks noGrp="1"/>
          </p:cNvGraphicFramePr>
          <p:nvPr/>
        </p:nvGraphicFramePr>
        <p:xfrm>
          <a:off x="685800" y="1554480"/>
          <a:ext cx="5943600" cy="4206240"/>
        </p:xfrm>
        <a:graphic>
          <a:graphicData uri="http://schemas.openxmlformats.org/drawingml/2006/table">
            <a:tbl>
              <a:tblPr firstRow="1" bandRow="1">
                <a:tableStyleId>{5C22544A-7EE6-4342-B048-85BDC9FD1C3A}</a:tableStyleId>
              </a:tblPr>
              <a:tblGrid>
                <a:gridCol w="4389120"/>
                <a:gridCol w="1554480"/>
              </a:tblGrid>
              <a:tr h="382385">
                <a:tc>
                  <a:txBody>
                    <a:bodyPr/>
                    <a:lstStyle/>
                    <a:p>
                      <a:r>
                        <a:rPr b="1" sz="1100"/>
                        <a:t>Segment</a:t>
                      </a:r>
                    </a:p>
                  </a:txBody>
                  <a:tcPr/>
                </a:tc>
                <a:tc>
                  <a:txBody>
                    <a:bodyPr/>
                    <a:lstStyle/>
                    <a:p>
                      <a:r>
                        <a:rPr b="1" sz="1100"/>
                        <a:t>Target</a:t>
                      </a:r>
                    </a:p>
                  </a:txBody>
                  <a:tcPr/>
                </a:tc>
              </a:tr>
              <a:tr h="382385">
                <a:tc>
                  <a:txBody>
                    <a:bodyPr/>
                    <a:lstStyle/>
                    <a:p>
                      <a:r>
                        <a:rPr sz="1000"/>
                        <a:t>Slides 1–4: setup and contract</a:t>
                      </a:r>
                    </a:p>
                  </a:txBody>
                  <a:tcPr/>
                </a:tc>
                <a:tc>
                  <a:txBody>
                    <a:bodyPr/>
                    <a:lstStyle/>
                    <a:p>
                      <a:r>
                        <a:rPr sz="1000"/>
                        <a:t>4:00</a:t>
                      </a:r>
                    </a:p>
                  </a:txBody>
                  <a:tcPr/>
                </a:tc>
              </a:tr>
              <a:tr h="382385">
                <a:tc>
                  <a:txBody>
                    <a:bodyPr/>
                    <a:lstStyle/>
                    <a:p>
                      <a:r>
                        <a:rPr sz="1000"/>
                        <a:t>Executive dashboard</a:t>
                      </a:r>
                    </a:p>
                  </a:txBody>
                  <a:tcPr/>
                </a:tc>
                <a:tc>
                  <a:txBody>
                    <a:bodyPr/>
                    <a:lstStyle/>
                    <a:p>
                      <a:r>
                        <a:rPr sz="1000"/>
                        <a:t>3:00</a:t>
                      </a:r>
                    </a:p>
                  </a:txBody>
                  <a:tcPr/>
                </a:tc>
              </a:tr>
              <a:tr h="382385">
                <a:tc>
                  <a:txBody>
                    <a:bodyPr/>
                    <a:lstStyle/>
                    <a:p>
                      <a:r>
                        <a:rPr sz="1000"/>
                        <a:t>App Overview and Queue</a:t>
                      </a:r>
                    </a:p>
                  </a:txBody>
                  <a:tcPr/>
                </a:tc>
                <a:tc>
                  <a:txBody>
                    <a:bodyPr/>
                    <a:lstStyle/>
                    <a:p>
                      <a:r>
                        <a:rPr sz="1000"/>
                        <a:t>3:30</a:t>
                      </a:r>
                    </a:p>
                  </a:txBody>
                  <a:tcPr/>
                </a:tc>
              </a:tr>
              <a:tr h="382385">
                <a:tc>
                  <a:txBody>
                    <a:bodyPr/>
                    <a:lstStyle/>
                    <a:p>
                      <a:r>
                        <a:rPr sz="1000"/>
                        <a:t>Evidence drawer</a:t>
                      </a:r>
                    </a:p>
                  </a:txBody>
                  <a:tcPr/>
                </a:tc>
                <a:tc>
                  <a:txBody>
                    <a:bodyPr/>
                    <a:lstStyle/>
                    <a:p>
                      <a:r>
                        <a:rPr sz="1000"/>
                        <a:t>2:30</a:t>
                      </a:r>
                    </a:p>
                  </a:txBody>
                  <a:tcPr/>
                </a:tc>
              </a:tr>
              <a:tr h="382385">
                <a:tc>
                  <a:txBody>
                    <a:bodyPr/>
                    <a:lstStyle/>
                    <a:p>
                      <a:r>
                        <a:rPr sz="1000"/>
                        <a:t>Assignment and lifecycle</a:t>
                      </a:r>
                    </a:p>
                  </a:txBody>
                  <a:tcPr/>
                </a:tc>
                <a:tc>
                  <a:txBody>
                    <a:bodyPr/>
                    <a:lstStyle/>
                    <a:p>
                      <a:r>
                        <a:rPr sz="1000"/>
                        <a:t>2:30</a:t>
                      </a:r>
                    </a:p>
                  </a:txBody>
                  <a:tcPr/>
                </a:tc>
              </a:tr>
              <a:tr h="382385">
                <a:tc>
                  <a:txBody>
                    <a:bodyPr/>
                    <a:lstStyle/>
                    <a:p>
                      <a:r>
                        <a:rPr sz="1000"/>
                        <a:t>Architecture</a:t>
                      </a:r>
                    </a:p>
                  </a:txBody>
                  <a:tcPr/>
                </a:tc>
                <a:tc>
                  <a:txBody>
                    <a:bodyPr/>
                    <a:lstStyle/>
                    <a:p>
                      <a:r>
                        <a:rPr sz="1000"/>
                        <a:t>3:00</a:t>
                      </a:r>
                    </a:p>
                  </a:txBody>
                  <a:tcPr/>
                </a:tc>
              </a:tr>
              <a:tr h="382385">
                <a:tc>
                  <a:txBody>
                    <a:bodyPr/>
                    <a:lstStyle/>
                    <a:p>
                      <a:r>
                        <a:rPr sz="1000"/>
                        <a:t>AI surface</a:t>
                      </a:r>
                    </a:p>
                  </a:txBody>
                  <a:tcPr/>
                </a:tc>
                <a:tc>
                  <a:txBody>
                    <a:bodyPr/>
                    <a:lstStyle/>
                    <a:p>
                      <a:r>
                        <a:rPr sz="1000"/>
                        <a:t>2:00</a:t>
                      </a:r>
                    </a:p>
                  </a:txBody>
                  <a:tcPr/>
                </a:tc>
              </a:tr>
              <a:tr h="382385">
                <a:tc>
                  <a:txBody>
                    <a:bodyPr/>
                    <a:lstStyle/>
                    <a:p>
                      <a:r>
                        <a:rPr sz="1000"/>
                        <a:t>Trade-offs and value close</a:t>
                      </a:r>
                    </a:p>
                  </a:txBody>
                  <a:tcPr/>
                </a:tc>
                <a:tc>
                  <a:txBody>
                    <a:bodyPr/>
                    <a:lstStyle/>
                    <a:p>
                      <a:r>
                        <a:rPr sz="1000"/>
                        <a:t>3:30</a:t>
                      </a:r>
                    </a:p>
                  </a:txBody>
                  <a:tcPr/>
                </a:tc>
              </a:tr>
              <a:tr h="382385">
                <a:tc>
                  <a:txBody>
                    <a:bodyPr/>
                    <a:lstStyle/>
                    <a:p>
                      <a:r>
                        <a:rPr sz="1000"/>
                        <a:t>Prepared total</a:t>
                      </a:r>
                    </a:p>
                  </a:txBody>
                  <a:tcPr/>
                </a:tc>
                <a:tc>
                  <a:txBody>
                    <a:bodyPr/>
                    <a:lstStyle/>
                    <a:p>
                      <a:r>
                        <a:rPr sz="1000"/>
                        <a:t>24:00</a:t>
                      </a:r>
                    </a:p>
                  </a:txBody>
                  <a:tcPr/>
                </a:tc>
              </a:tr>
              <a:tr h="382390">
                <a:tc>
                  <a:txBody>
                    <a:bodyPr/>
                    <a:lstStyle/>
                    <a:p>
                      <a:r>
                        <a:rPr sz="1000"/>
                        <a:t>Q&amp;A buffer</a:t>
                      </a:r>
                    </a:p>
                  </a:txBody>
                  <a:tcPr/>
                </a:tc>
                <a:tc>
                  <a:txBody>
                    <a:bodyPr/>
                    <a:lstStyle/>
                    <a:p>
                      <a:r>
                        <a:rPr sz="1000"/>
                        <a:t>6:00</a:t>
                      </a:r>
                    </a:p>
                  </a:txBody>
                  <a:tcPr/>
                </a:tc>
              </a:tr>
            </a:tbl>
          </a:graphicData>
        </a:graphic>
      </p:graphicFrame>
      <p:sp>
        <p:nvSpPr>
          <p:cNvPr id="6" name="Rounded Rectangle 5"/>
          <p:cNvSpPr/>
          <p:nvPr/>
        </p:nvSpPr>
        <p:spPr>
          <a:xfrm>
            <a:off x="6858000" y="1554480"/>
            <a:ext cx="4434840" cy="42062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20-minute compression</a:t>
            </a:r>
          </a:p>
          <a:p>
            <a:pPr>
              <a:spcBef>
                <a:spcPts val="300"/>
              </a:spcBef>
            </a:pPr>
            <a:r>
              <a:rPr sz="1100">
                <a:solidFill>
                  <a:srgbClr val="5C6663"/>
                </a:solidFill>
              </a:rPr>
              <a:t>Executive dashboard: 2:00</a:t>
            </a:r>
          </a:p>
          <a:p>
            <a:pPr>
              <a:spcBef>
                <a:spcPts val="300"/>
              </a:spcBef>
            </a:pPr>
            <a:r>
              <a:rPr sz="1100">
                <a:solidFill>
                  <a:srgbClr val="5C6663"/>
                </a:solidFill>
              </a:rPr>
              <a:t>Overview and Queue: 2:30</a:t>
            </a:r>
          </a:p>
          <a:p>
            <a:pPr>
              <a:spcBef>
                <a:spcPts val="300"/>
              </a:spcBef>
            </a:pPr>
            <a:r>
              <a:rPr sz="1100">
                <a:solidFill>
                  <a:srgbClr val="5C6663"/>
                </a:solidFill>
              </a:rPr>
              <a:t>Evidence drawer: 2:00</a:t>
            </a:r>
          </a:p>
          <a:p>
            <a:pPr>
              <a:spcBef>
                <a:spcPts val="300"/>
              </a:spcBef>
            </a:pPr>
            <a:r>
              <a:rPr sz="1100">
                <a:solidFill>
                  <a:srgbClr val="5C6663"/>
                </a:solidFill>
              </a:rPr>
              <a:t>Case lifecycle: 2:00</a:t>
            </a:r>
          </a:p>
          <a:p>
            <a:pPr>
              <a:spcBef>
                <a:spcPts val="300"/>
              </a:spcBef>
            </a:pPr>
            <a:r>
              <a:rPr sz="1100">
                <a:solidFill>
                  <a:srgbClr val="5C6663"/>
                </a:solidFill>
              </a:rPr>
              <a:t>Architecture: 2:00</a:t>
            </a:r>
          </a:p>
          <a:p>
            <a:pPr>
              <a:spcBef>
                <a:spcPts val="300"/>
              </a:spcBef>
            </a:pPr>
            <a:r>
              <a:rPr sz="1100">
                <a:solidFill>
                  <a:srgbClr val="5C6663"/>
                </a:solidFill>
              </a:rPr>
              <a:t>AI: 1:00</a:t>
            </a:r>
          </a:p>
          <a:p>
            <a:pPr>
              <a:spcBef>
                <a:spcPts val="300"/>
              </a:spcBef>
            </a:pPr>
            <a:r>
              <a:rPr sz="1100">
                <a:solidFill>
                  <a:srgbClr val="5C6663"/>
                </a:solidFill>
              </a:rPr>
              <a:t>Close: 2:00</a:t>
            </a:r>
          </a:p>
          <a:p>
            <a:pPr>
              <a:spcBef>
                <a:spcPts val="300"/>
              </a:spcBef>
            </a:pPr>
            <a:r>
              <a:rPr sz="1100">
                <a:solidFill>
                  <a:srgbClr val="5C6663"/>
                </a:solidFill>
              </a:rPr>
              <a:t> </a:t>
            </a:r>
          </a:p>
          <a:p>
            <a:pPr>
              <a:spcBef>
                <a:spcPts val="300"/>
              </a:spcBef>
            </a:pPr>
            <a:r>
              <a:rPr sz="1100">
                <a:solidFill>
                  <a:srgbClr val="5C6663"/>
                </a:solidFill>
              </a:rPr>
              <a:t>Do not cut quantification, evidence, or recovery.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6F5"/>
        </a:solidFill>
        <a:effectLst/>
      </p:bgPr>
    </p:bg>
    <p:spTree>
      <p:nvGrpSpPr>
        <p:cNvPr id="1" name=""/>
        <p:cNvGrpSpPr/>
        <p:nvPr/>
      </p:nvGrpSpPr>
      <p:grpSpPr/>
      <p:sp>
        <p:nvSpPr>
          <p:cNvPr id="2" name="Rounded Rectangle 1"/>
          <p:cNvSpPr/>
          <p:nvPr/>
        </p:nvSpPr>
        <p:spPr>
          <a:xfrm>
            <a:off x="457200" y="365760"/>
            <a:ext cx="11277295" cy="6126480"/>
          </a:xfrm>
          <a:prstGeom prst="roundRect">
            <a:avLst>
              <a:gd name="adj" fmla="val 3000"/>
            </a:avLst>
          </a:prstGeom>
          <a:solidFill>
            <a:srgbClr val="FFFFFF"/>
          </a:solidFill>
          <a:ln w="12700">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94360"/>
            <a:ext cx="10789920" cy="320040"/>
          </a:xfrm>
          <a:prstGeom prst="rect">
            <a:avLst/>
          </a:prstGeom>
          <a:noFill/>
        </p:spPr>
        <p:txBody>
          <a:bodyPr wrap="square">
            <a:spAutoFit/>
          </a:bodyPr>
          <a:lstStyle/>
          <a:p>
            <a:pPr algn="l">
              <a:lnSpc>
                <a:spcPct val="115000"/>
              </a:lnSpc>
            </a:pPr>
            <a:r>
              <a:rPr sz="1200" b="1" i="0">
                <a:solidFill>
                  <a:srgbClr val="0A6E6E"/>
                </a:solidFill>
                <a:latin typeface="Calibri"/>
              </a:rPr>
              <a:t>APPENDIX E (CONT.) · REHEARSAL SCORECARD</a:t>
            </a:r>
          </a:p>
        </p:txBody>
      </p:sp>
      <p:sp>
        <p:nvSpPr>
          <p:cNvPr id="4" name="TextBox 3"/>
          <p:cNvSpPr txBox="1"/>
          <p:nvPr/>
        </p:nvSpPr>
        <p:spPr>
          <a:xfrm>
            <a:off x="685800" y="960120"/>
            <a:ext cx="10789920" cy="640080"/>
          </a:xfrm>
          <a:prstGeom prst="rect">
            <a:avLst/>
          </a:prstGeom>
          <a:noFill/>
        </p:spPr>
        <p:txBody>
          <a:bodyPr wrap="square">
            <a:spAutoFit/>
          </a:bodyPr>
          <a:lstStyle/>
          <a:p>
            <a:pPr algn="l">
              <a:lnSpc>
                <a:spcPct val="115000"/>
              </a:lnSpc>
            </a:pPr>
            <a:r>
              <a:rPr sz="2600" b="1" i="0">
                <a:solidFill>
                  <a:srgbClr val="1C2321"/>
                </a:solidFill>
                <a:latin typeface="Calibri"/>
              </a:rPr>
              <a:t>How this gets scored</a:t>
            </a:r>
          </a:p>
        </p:txBody>
      </p:sp>
      <p:sp>
        <p:nvSpPr>
          <p:cNvPr id="5" name="Rounded Rectangle 4"/>
          <p:cNvSpPr/>
          <p:nvPr/>
        </p:nvSpPr>
        <p:spPr>
          <a:xfrm>
            <a:off x="685800" y="1554480"/>
            <a:ext cx="5212080" cy="14630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Demo setup</a:t>
            </a:r>
          </a:p>
          <a:p>
            <a:pPr>
              <a:spcBef>
                <a:spcPts val="300"/>
              </a:spcBef>
            </a:pPr>
            <a:r>
              <a:rPr sz="1000">
                <a:solidFill>
                  <a:srgbClr val="5C6663"/>
                </a:solidFill>
              </a:rPr>
              <a:t>Name Lumen as audience, Lakelink as demo operator.</a:t>
            </a:r>
          </a:p>
          <a:p>
            <a:pPr>
              <a:spcBef>
                <a:spcPts val="300"/>
              </a:spcBef>
            </a:pPr>
            <a:r>
              <a:rPr sz="1000">
                <a:solidFill>
                  <a:srgbClr val="5C6663"/>
                </a:solidFill>
              </a:rPr>
              <a:t>State problem + illustrative economics before tech.</a:t>
            </a:r>
          </a:p>
          <a:p>
            <a:pPr>
              <a:spcBef>
                <a:spcPts val="300"/>
              </a:spcBef>
            </a:pPr>
            <a:r>
              <a:rPr sz="1000">
                <a:solidFill>
                  <a:srgbClr val="5C6663"/>
                </a:solidFill>
              </a:rPr>
              <a:t>Contract for quantify/prove/recover.</a:t>
            </a:r>
          </a:p>
        </p:txBody>
      </p:sp>
      <p:sp>
        <p:nvSpPr>
          <p:cNvPr id="6" name="Rounded Rectangle 5"/>
          <p:cNvSpPr/>
          <p:nvPr/>
        </p:nvSpPr>
        <p:spPr>
          <a:xfrm>
            <a:off x="6080760" y="1554480"/>
            <a:ext cx="5212080" cy="14630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Tell-show-tell</a:t>
            </a:r>
          </a:p>
          <a:p>
            <a:pPr>
              <a:spcBef>
                <a:spcPts val="300"/>
              </a:spcBef>
            </a:pPr>
            <a:r>
              <a:rPr sz="1000">
                <a:solidFill>
                  <a:srgbClr val="5C6663"/>
                </a:solidFill>
              </a:rPr>
              <a:t>State one claim before each screen.</a:t>
            </a:r>
          </a:p>
          <a:p>
            <a:pPr>
              <a:spcBef>
                <a:spcPts val="300"/>
              </a:spcBef>
            </a:pPr>
            <a:r>
              <a:rPr sz="1000">
                <a:solidFill>
                  <a:srgbClr val="5C6663"/>
                </a:solidFill>
              </a:rPr>
              <a:t>Perform one or two intentional actions only.</a:t>
            </a:r>
          </a:p>
          <a:p>
            <a:pPr>
              <a:spcBef>
                <a:spcPts val="300"/>
              </a:spcBef>
            </a:pPr>
            <a:r>
              <a:rPr sz="1000">
                <a:solidFill>
                  <a:srgbClr val="5C6663"/>
                </a:solidFill>
              </a:rPr>
              <a:t>Translate the screen into a business outcome.</a:t>
            </a:r>
          </a:p>
        </p:txBody>
      </p:sp>
      <p:sp>
        <p:nvSpPr>
          <p:cNvPr id="7" name="Rounded Rectangle 6"/>
          <p:cNvSpPr/>
          <p:nvPr/>
        </p:nvSpPr>
        <p:spPr>
          <a:xfrm>
            <a:off x="685800" y="3154680"/>
            <a:ext cx="5212080" cy="14630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Value communication</a:t>
            </a:r>
          </a:p>
          <a:p>
            <a:pPr>
              <a:spcBef>
                <a:spcPts val="300"/>
              </a:spcBef>
            </a:pPr>
            <a:r>
              <a:rPr sz="1000">
                <a:solidFill>
                  <a:srgbClr val="5C6663"/>
                </a:solidFill>
              </a:rPr>
              <a:t>Return every capability to recovered/prevented revenue, prioritization, trust, or time to action.</a:t>
            </a:r>
          </a:p>
          <a:p>
            <a:pPr>
              <a:spcBef>
                <a:spcPts val="300"/>
              </a:spcBef>
            </a:pPr>
            <a:r>
              <a:rPr sz="1000">
                <a:solidFill>
                  <a:srgbClr val="5C6663"/>
                </a:solidFill>
              </a:rPr>
              <a:t>Label all estimated/synthetic figures.</a:t>
            </a:r>
          </a:p>
          <a:p>
            <a:pPr>
              <a:spcBef>
                <a:spcPts val="300"/>
              </a:spcBef>
            </a:pPr>
            <a:r>
              <a:rPr sz="1000">
                <a:solidFill>
                  <a:srgbClr val="5C6663"/>
                </a:solidFill>
              </a:rPr>
              <a:t>End with a bounded two-control sprint.</a:t>
            </a:r>
          </a:p>
        </p:txBody>
      </p:sp>
      <p:sp>
        <p:nvSpPr>
          <p:cNvPr id="8" name="Rounded Rectangle 7"/>
          <p:cNvSpPr/>
          <p:nvPr/>
        </p:nvSpPr>
        <p:spPr>
          <a:xfrm>
            <a:off x="6080760" y="3154680"/>
            <a:ext cx="5212080" cy="14630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Reading the room</a:t>
            </a:r>
          </a:p>
          <a:p>
            <a:pPr>
              <a:spcBef>
                <a:spcPts val="300"/>
              </a:spcBef>
            </a:pPr>
            <a:r>
              <a:rPr sz="1000">
                <a:solidFill>
                  <a:srgbClr val="5C6663"/>
                </a:solidFill>
              </a:rPr>
              <a:t>Answer the asker first.</a:t>
            </a:r>
          </a:p>
          <a:p>
            <a:pPr>
              <a:spcBef>
                <a:spcPts val="300"/>
              </a:spcBef>
            </a:pPr>
            <a:r>
              <a:rPr sz="1000">
                <a:solidFill>
                  <a:srgbClr val="5C6663"/>
                </a:solidFill>
              </a:rPr>
              <a:t>Give the other stakeholder a one-sentence translation.</a:t>
            </a:r>
          </a:p>
          <a:p>
            <a:pPr>
              <a:spcBef>
                <a:spcPts val="300"/>
              </a:spcBef>
            </a:pPr>
            <a:r>
              <a:rPr sz="1000">
                <a:solidFill>
                  <a:srgbClr val="5C6663"/>
                </a:solidFill>
              </a:rPr>
              <a:t>Offer depth rather than forcing it.</a:t>
            </a:r>
          </a:p>
        </p:txBody>
      </p:sp>
      <p:sp>
        <p:nvSpPr>
          <p:cNvPr id="9" name="Rounded Rectangle 8"/>
          <p:cNvSpPr/>
          <p:nvPr/>
        </p:nvSpPr>
        <p:spPr>
          <a:xfrm>
            <a:off x="685800" y="4754880"/>
            <a:ext cx="10789920" cy="1005840"/>
          </a:xfrm>
          <a:prstGeom prst="roundRect">
            <a:avLst>
              <a:gd name="adj" fmla="val 6000"/>
            </a:avLst>
          </a:prstGeom>
          <a:solidFill>
            <a:srgbClr val="FBFBFA"/>
          </a:solidFill>
          <a:ln w="9525">
            <a:solidFill>
              <a:srgbClr val="DFE1D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r>
              <a:rPr b="1" sz="1300">
                <a:solidFill>
                  <a:srgbClr val="1C2321"/>
                </a:solidFill>
              </a:rPr>
              <a:t>Professionalism</a:t>
            </a:r>
          </a:p>
          <a:p>
            <a:pPr>
              <a:spcBef>
                <a:spcPts val="300"/>
              </a:spcBef>
            </a:pPr>
            <a:r>
              <a:rPr sz="1000">
                <a:solidFill>
                  <a:srgbClr val="5C6663"/>
                </a:solidFill>
              </a:rPr>
              <a:t>Never debug on stage for more than ten seconds. Volunteer material limitations before being challenged. Avoid claiming undeployed metric views, tags, embedded Genie, or production ML accuracy. Close with two direct stakeholder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